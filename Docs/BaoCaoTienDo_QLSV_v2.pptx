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0C8F00-B1D3-A920-D14B-2EB2CE1F64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A17F53-7025-7C41-7B1B-6B0C11BA68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A63370-7582-B8C8-907E-BF8DBC9F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2126B-468F-6E3A-F950-319AA04B57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7A7EA5-2531-F42B-BACC-E16BF96DB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4CBDE7-E0C7-2957-2F9B-F9FD822459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E082A1-78A7-BF52-3E94-9E8BA96D06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89FDD5-D9FC-033F-973E-712C251030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52CD21-BE62-7D4D-41BF-36CFEAAE3B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38A3F3-86E3-EA48-0602-B048364C83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7BD8A3-0392-32C4-0DAB-B415A66C7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C20486-A45B-9DDD-3EFC-7593693FF9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7B1CB-4EE9-7849-C709-3E59A3B1D3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DB5644-9474-F11D-26E6-2A1CF5C813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DA92FD-4B6F-1198-D60E-AEB8B67420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46672-3F2A-3510-6C73-8F4DCCD0EC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91AB58-6DD3-4482-A743-D6DBE5F8F7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F5AC70-DEB4-2B91-593F-AED00C0808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258E0B-2CEC-4143-DCBA-C5A5F2CFE2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99E5B-FF6C-BAA8-2F7A-C67D412B4E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1F744E-FEFD-1367-80B7-9260F58C9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E58658-50C7-989F-684F-C57AEEA6C3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48C908-4A05-519E-2BE2-547CD91459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3E3F97-2577-5F53-6564-0C66854818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1549B3-3144-1AED-224D-F23A548485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56319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93863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884495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313183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10774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3127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7939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33485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920491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17844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10697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35340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24603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505381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63327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4336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934154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85429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00593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403978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81904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186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1213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014228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423844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4871511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48979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3463171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439756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4736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074146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2233564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372984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6496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0634328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761958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47467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88797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39742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79696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849549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11491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96963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881716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681643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14557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853619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70389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3071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575599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78083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436679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8473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7914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40639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41846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606263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5547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2514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32301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739869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078759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9157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81348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6513328" name="Rectangle 2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2192054" name="Rectangle 3"/>
          <p:cNvSpPr/>
          <p:nvPr/>
        </p:nvSpPr>
        <p:spPr bwMode="auto">
          <a:xfrm>
            <a:off x="640080" y="1691640"/>
            <a:ext cx="73152" cy="256032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8492504" name="TextBox 4"/>
          <p:cNvSpPr txBox="1"/>
          <p:nvPr/>
        </p:nvSpPr>
        <p:spPr bwMode="auto">
          <a:xfrm>
            <a:off x="960120" y="16002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/>
              <a:t>HỆ THỐNG QUẢN LÝ SINH VIÊN</a:t>
            </a:r>
            <a:endParaRPr/>
          </a:p>
        </p:txBody>
      </p:sp>
      <p:sp>
        <p:nvSpPr>
          <p:cNvPr id="1316207965" name="TextBox 5"/>
          <p:cNvSpPr txBox="1"/>
          <p:nvPr/>
        </p:nvSpPr>
        <p:spPr bwMode="auto">
          <a:xfrm>
            <a:off x="960120" y="2606040"/>
            <a:ext cx="10059839" cy="427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3CB371"/>
                </a:solidFill>
                <a:latin typeface="Segoe UI"/>
              </a:defRPr>
            </a:pPr>
            <a:endParaRPr/>
          </a:p>
        </p:txBody>
      </p:sp>
      <p:sp>
        <p:nvSpPr>
          <p:cNvPr id="706566040" name="TextBox 6"/>
          <p:cNvSpPr txBox="1"/>
          <p:nvPr/>
        </p:nvSpPr>
        <p:spPr bwMode="auto">
          <a:xfrm rot="0">
            <a:off x="954360" y="2499179"/>
            <a:ext cx="10064159" cy="32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EBED2"/>
                </a:solidFill>
                <a:latin typeface="Segoe UI"/>
              </a:defRPr>
            </a:pPr>
            <a:r>
              <a:rPr/>
              <a:t> Trường Đại học Thủ Dầu Một</a:t>
            </a:r>
            <a:endParaRPr/>
          </a:p>
        </p:txBody>
      </p:sp>
      <p:sp>
        <p:nvSpPr>
          <p:cNvPr id="1664507385" name="Rounded Rectangle 7"/>
          <p:cNvSpPr/>
          <p:nvPr/>
        </p:nvSpPr>
        <p:spPr bwMode="auto">
          <a:xfrm>
            <a:off x="960120" y="4251960"/>
            <a:ext cx="3154680" cy="1417320"/>
          </a:xfrm>
          <a:prstGeom prst="roundRect">
            <a:avLst>
              <a:gd name="adj" fmla="val 16667"/>
            </a:avLst>
          </a:prstGeom>
          <a:solidFill>
            <a:srgbClr val="2D2C5A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1744241" name="TextBox 8"/>
          <p:cNvSpPr txBox="1"/>
          <p:nvPr/>
        </p:nvSpPr>
        <p:spPr bwMode="auto">
          <a:xfrm>
            <a:off x="1143000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CB371"/>
                </a:solidFill>
                <a:latin typeface="Segoe UI"/>
              </a:defRPr>
            </a:pPr>
            <a:r>
              <a:rPr/>
              <a:t>Client</a:t>
            </a:r>
            <a:endParaRPr/>
          </a:p>
        </p:txBody>
      </p:sp>
      <p:sp>
        <p:nvSpPr>
          <p:cNvPr id="487083299" name="TextBox 9"/>
          <p:cNvSpPr txBox="1"/>
          <p:nvPr/>
        </p:nvSpPr>
        <p:spPr bwMode="auto">
          <a:xfrm>
            <a:off x="1143000" y="4846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/>
              <a:t>WinForms UI</a:t>
            </a:r>
            <a:endParaRPr/>
          </a:p>
        </p:txBody>
      </p:sp>
      <p:sp>
        <p:nvSpPr>
          <p:cNvPr id="320975564" name="Rounded Rectangle 10"/>
          <p:cNvSpPr/>
          <p:nvPr/>
        </p:nvSpPr>
        <p:spPr bwMode="auto">
          <a:xfrm>
            <a:off x="4480560" y="4251960"/>
            <a:ext cx="3154680" cy="1417320"/>
          </a:xfrm>
          <a:prstGeom prst="roundRect">
            <a:avLst>
              <a:gd name="adj" fmla="val 16667"/>
            </a:avLst>
          </a:prstGeom>
          <a:solidFill>
            <a:srgbClr val="2D2C5A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6222128" name="TextBox 11"/>
          <p:cNvSpPr txBox="1"/>
          <p:nvPr/>
        </p:nvSpPr>
        <p:spPr bwMode="auto">
          <a:xfrm>
            <a:off x="4663440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CB371"/>
                </a:solidFill>
                <a:latin typeface="Segoe UI"/>
              </a:defRPr>
            </a:pPr>
            <a:r>
              <a:rPr/>
              <a:t>Server</a:t>
            </a:r>
            <a:endParaRPr/>
          </a:p>
        </p:txBody>
      </p:sp>
      <p:sp>
        <p:nvSpPr>
          <p:cNvPr id="862528996" name="TextBox 12"/>
          <p:cNvSpPr txBox="1"/>
          <p:nvPr/>
        </p:nvSpPr>
        <p:spPr bwMode="auto">
          <a:xfrm>
            <a:off x="4663440" y="4846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/>
              <a:t>ASP.NET API</a:t>
            </a:r>
            <a:endParaRPr/>
          </a:p>
        </p:txBody>
      </p:sp>
      <p:sp>
        <p:nvSpPr>
          <p:cNvPr id="18027362" name="Rounded Rectangle 13"/>
          <p:cNvSpPr/>
          <p:nvPr/>
        </p:nvSpPr>
        <p:spPr bwMode="auto">
          <a:xfrm>
            <a:off x="8001000" y="4251960"/>
            <a:ext cx="3154680" cy="1417320"/>
          </a:xfrm>
          <a:prstGeom prst="roundRect">
            <a:avLst>
              <a:gd name="adj" fmla="val 16667"/>
            </a:avLst>
          </a:prstGeom>
          <a:solidFill>
            <a:srgbClr val="2D2C5A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1476947" name="TextBox 14"/>
          <p:cNvSpPr txBox="1"/>
          <p:nvPr/>
        </p:nvSpPr>
        <p:spPr bwMode="auto">
          <a:xfrm>
            <a:off x="8183880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CB371"/>
                </a:solidFill>
                <a:latin typeface="Segoe UI"/>
              </a:defRPr>
            </a:pPr>
            <a:r>
              <a:rPr/>
              <a:t>Database</a:t>
            </a:r>
            <a:endParaRPr/>
          </a:p>
        </p:txBody>
      </p:sp>
      <p:sp>
        <p:nvSpPr>
          <p:cNvPr id="682524607" name="TextBox 15"/>
          <p:cNvSpPr txBox="1"/>
          <p:nvPr/>
        </p:nvSpPr>
        <p:spPr bwMode="auto">
          <a:xfrm>
            <a:off x="8183880" y="4846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/>
              <a:t>SQL Server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80336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4895776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6392268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7186064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PHẦN MỞ ĐẦU</a:t>
            </a:r>
            <a:endParaRPr/>
          </a:p>
        </p:txBody>
      </p:sp>
      <p:sp>
        <p:nvSpPr>
          <p:cNvPr id="522495770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Nội dung trình bày</a:t>
            </a:r>
            <a:endParaRPr/>
          </a:p>
        </p:txBody>
      </p:sp>
      <p:sp>
        <p:nvSpPr>
          <p:cNvPr id="360054403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0048957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153195901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1/16</a:t>
            </a:r>
            <a:endParaRPr/>
          </a:p>
        </p:txBody>
      </p:sp>
      <p:sp>
        <p:nvSpPr>
          <p:cNvPr id="684929429" name="Rounded Rectangle 9"/>
          <p:cNvSpPr/>
          <p:nvPr/>
        </p:nvSpPr>
        <p:spPr bwMode="auto">
          <a:xfrm>
            <a:off x="640080" y="123444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2961100" name="TextBox 10"/>
          <p:cNvSpPr txBox="1"/>
          <p:nvPr/>
        </p:nvSpPr>
        <p:spPr bwMode="auto">
          <a:xfrm>
            <a:off x="640080" y="1289304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I</a:t>
            </a:r>
            <a:endParaRPr/>
          </a:p>
        </p:txBody>
      </p:sp>
      <p:sp>
        <p:nvSpPr>
          <p:cNvPr id="724704432" name="TextBox 11"/>
          <p:cNvSpPr txBox="1"/>
          <p:nvPr/>
        </p:nvSpPr>
        <p:spPr bwMode="auto">
          <a:xfrm>
            <a:off x="1325880" y="128930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Giới thiệu đề tài và mục tiêu</a:t>
            </a:r>
            <a:endParaRPr/>
          </a:p>
        </p:txBody>
      </p:sp>
      <p:sp>
        <p:nvSpPr>
          <p:cNvPr id="1494685816" name="Rounded Rectangle 12"/>
          <p:cNvSpPr/>
          <p:nvPr/>
        </p:nvSpPr>
        <p:spPr bwMode="auto">
          <a:xfrm>
            <a:off x="640080" y="176479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6865357" name="TextBox 13"/>
          <p:cNvSpPr txBox="1"/>
          <p:nvPr/>
        </p:nvSpPr>
        <p:spPr bwMode="auto">
          <a:xfrm>
            <a:off x="640080" y="181965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II</a:t>
            </a:r>
            <a:endParaRPr/>
          </a:p>
        </p:txBody>
      </p:sp>
      <p:sp>
        <p:nvSpPr>
          <p:cNvPr id="977177531" name="TextBox 14"/>
          <p:cNvSpPr txBox="1"/>
          <p:nvPr/>
        </p:nvSpPr>
        <p:spPr bwMode="auto">
          <a:xfrm>
            <a:off x="1325880" y="181965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Cấu trúc thư mục dự án</a:t>
            </a:r>
            <a:endParaRPr/>
          </a:p>
        </p:txBody>
      </p:sp>
      <p:sp>
        <p:nvSpPr>
          <p:cNvPr id="1257873499" name="Rounded Rectangle 15"/>
          <p:cNvSpPr/>
          <p:nvPr/>
        </p:nvSpPr>
        <p:spPr bwMode="auto">
          <a:xfrm>
            <a:off x="640080" y="2295144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0773218" name="TextBox 16"/>
          <p:cNvSpPr txBox="1"/>
          <p:nvPr/>
        </p:nvSpPr>
        <p:spPr bwMode="auto">
          <a:xfrm>
            <a:off x="640080" y="2350008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III</a:t>
            </a:r>
            <a:endParaRPr/>
          </a:p>
        </p:txBody>
      </p:sp>
      <p:sp>
        <p:nvSpPr>
          <p:cNvPr id="208708192" name="TextBox 17"/>
          <p:cNvSpPr txBox="1"/>
          <p:nvPr/>
        </p:nvSpPr>
        <p:spPr bwMode="auto">
          <a:xfrm>
            <a:off x="1325880" y="235000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Kiến trúc 3 tầng và pipeline xử lý</a:t>
            </a:r>
            <a:endParaRPr/>
          </a:p>
        </p:txBody>
      </p:sp>
      <p:sp>
        <p:nvSpPr>
          <p:cNvPr id="1790405257" name="Rounded Rectangle 18"/>
          <p:cNvSpPr/>
          <p:nvPr/>
        </p:nvSpPr>
        <p:spPr bwMode="auto">
          <a:xfrm>
            <a:off x="640080" y="2825496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3124161" name="TextBox 19"/>
          <p:cNvSpPr txBox="1"/>
          <p:nvPr/>
        </p:nvSpPr>
        <p:spPr bwMode="auto">
          <a:xfrm>
            <a:off x="640080" y="2880360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IV</a:t>
            </a:r>
            <a:endParaRPr/>
          </a:p>
        </p:txBody>
      </p:sp>
      <p:sp>
        <p:nvSpPr>
          <p:cNvPr id="1208227852" name="TextBox 20"/>
          <p:cNvSpPr txBox="1"/>
          <p:nvPr/>
        </p:nvSpPr>
        <p:spPr bwMode="auto">
          <a:xfrm>
            <a:off x="1325880" y="288036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Ứng dụng làm gì? (chức năng chính)</a:t>
            </a:r>
            <a:endParaRPr/>
          </a:p>
        </p:txBody>
      </p:sp>
      <p:sp>
        <p:nvSpPr>
          <p:cNvPr id="1758549753" name="Rounded Rectangle 21"/>
          <p:cNvSpPr/>
          <p:nvPr/>
        </p:nvSpPr>
        <p:spPr bwMode="auto">
          <a:xfrm>
            <a:off x="640080" y="335584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5679481" name="TextBox 22"/>
          <p:cNvSpPr txBox="1"/>
          <p:nvPr/>
        </p:nvSpPr>
        <p:spPr bwMode="auto">
          <a:xfrm>
            <a:off x="640080" y="3410712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V</a:t>
            </a:r>
            <a:endParaRPr/>
          </a:p>
        </p:txBody>
      </p:sp>
      <p:sp>
        <p:nvSpPr>
          <p:cNvPr id="353077682" name="TextBox 23"/>
          <p:cNvSpPr txBox="1"/>
          <p:nvPr/>
        </p:nvSpPr>
        <p:spPr bwMode="auto">
          <a:xfrm>
            <a:off x="1325880" y="341071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Tiến độ Client (giao diện)</a:t>
            </a:r>
            <a:endParaRPr/>
          </a:p>
        </p:txBody>
      </p:sp>
      <p:sp>
        <p:nvSpPr>
          <p:cNvPr id="359137241" name="Rounded Rectangle 24"/>
          <p:cNvSpPr/>
          <p:nvPr/>
        </p:nvSpPr>
        <p:spPr bwMode="auto">
          <a:xfrm>
            <a:off x="640080" y="388620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8373462" name="TextBox 25"/>
          <p:cNvSpPr txBox="1"/>
          <p:nvPr/>
        </p:nvSpPr>
        <p:spPr bwMode="auto">
          <a:xfrm>
            <a:off x="640080" y="3941064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VI</a:t>
            </a:r>
            <a:endParaRPr/>
          </a:p>
        </p:txBody>
      </p:sp>
      <p:sp>
        <p:nvSpPr>
          <p:cNvPr id="1195103915" name="TextBox 26"/>
          <p:cNvSpPr txBox="1"/>
          <p:nvPr/>
        </p:nvSpPr>
        <p:spPr bwMode="auto">
          <a:xfrm>
            <a:off x="1325880" y="394106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Tiến độ Server (API)</a:t>
            </a:r>
            <a:endParaRPr/>
          </a:p>
        </p:txBody>
      </p:sp>
      <p:sp>
        <p:nvSpPr>
          <p:cNvPr id="1166691289" name="Rounded Rectangle 27"/>
          <p:cNvSpPr/>
          <p:nvPr/>
        </p:nvSpPr>
        <p:spPr bwMode="auto">
          <a:xfrm>
            <a:off x="640080" y="441655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1799485" name="TextBox 28"/>
          <p:cNvSpPr txBox="1"/>
          <p:nvPr/>
        </p:nvSpPr>
        <p:spPr bwMode="auto">
          <a:xfrm>
            <a:off x="640080" y="447141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VII</a:t>
            </a:r>
            <a:endParaRPr/>
          </a:p>
        </p:txBody>
      </p:sp>
      <p:sp>
        <p:nvSpPr>
          <p:cNvPr id="315189048" name="TextBox 29"/>
          <p:cNvSpPr txBox="1"/>
          <p:nvPr/>
        </p:nvSpPr>
        <p:spPr bwMode="auto">
          <a:xfrm>
            <a:off x="1325880" y="447141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Cơ sở dữ liệu: bảng, SP, trigger</a:t>
            </a:r>
            <a:endParaRPr/>
          </a:p>
        </p:txBody>
      </p:sp>
      <p:sp>
        <p:nvSpPr>
          <p:cNvPr id="1235600145" name="Rounded Rectangle 30"/>
          <p:cNvSpPr/>
          <p:nvPr/>
        </p:nvSpPr>
        <p:spPr bwMode="auto">
          <a:xfrm>
            <a:off x="640080" y="4946904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1393879" name="TextBox 31"/>
          <p:cNvSpPr txBox="1"/>
          <p:nvPr/>
        </p:nvSpPr>
        <p:spPr bwMode="auto">
          <a:xfrm>
            <a:off x="640080" y="5001768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VIII</a:t>
            </a:r>
            <a:endParaRPr/>
          </a:p>
        </p:txBody>
      </p:sp>
      <p:sp>
        <p:nvSpPr>
          <p:cNvPr id="2045337825" name="TextBox 32"/>
          <p:cNvSpPr txBox="1"/>
          <p:nvPr/>
        </p:nvSpPr>
        <p:spPr bwMode="auto">
          <a:xfrm>
            <a:off x="1325880" y="500176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Luồng cập nhật điểm và trigger tự động</a:t>
            </a:r>
            <a:endParaRPr/>
          </a:p>
        </p:txBody>
      </p:sp>
      <p:sp>
        <p:nvSpPr>
          <p:cNvPr id="513805544" name="Rounded Rectangle 33"/>
          <p:cNvSpPr/>
          <p:nvPr/>
        </p:nvSpPr>
        <p:spPr bwMode="auto">
          <a:xfrm>
            <a:off x="640080" y="5477255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5288731" name="TextBox 34"/>
          <p:cNvSpPr txBox="1"/>
          <p:nvPr/>
        </p:nvSpPr>
        <p:spPr bwMode="auto">
          <a:xfrm>
            <a:off x="640080" y="5532120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/>
              <a:t>IX</a:t>
            </a:r>
            <a:endParaRPr/>
          </a:p>
        </p:txBody>
      </p:sp>
      <p:sp>
        <p:nvSpPr>
          <p:cNvPr id="916803280" name="TextBox 35"/>
          <p:cNvSpPr txBox="1"/>
          <p:nvPr/>
        </p:nvSpPr>
        <p:spPr bwMode="auto">
          <a:xfrm>
            <a:off x="1325880" y="55321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rPr/>
              <a:t>Demo và kế hoạch tiếp theo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36045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008300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324960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I</a:t>
            </a:r>
            <a:endParaRPr/>
          </a:p>
        </p:txBody>
      </p:sp>
      <p:sp>
        <p:nvSpPr>
          <p:cNvPr id="1819356753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Giới thiệu</a:t>
            </a:r>
            <a:endParaRPr/>
          </a:p>
        </p:txBody>
      </p:sp>
      <p:sp>
        <p:nvSpPr>
          <p:cNvPr id="816387750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Đề tài và mục tiêu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24878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280613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7139496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020813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PHẦN I</a:t>
            </a:r>
            <a:endParaRPr/>
          </a:p>
        </p:txBody>
      </p:sp>
      <p:sp>
        <p:nvSpPr>
          <p:cNvPr id="1443805613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Giới thiệu đề tài</a:t>
            </a:r>
            <a:endParaRPr/>
          </a:p>
        </p:txBody>
      </p:sp>
      <p:sp>
        <p:nvSpPr>
          <p:cNvPr id="622467316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6523241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854340971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2/16</a:t>
            </a:r>
            <a:endParaRPr/>
          </a:p>
        </p:txBody>
      </p:sp>
      <p:sp>
        <p:nvSpPr>
          <p:cNvPr id="1948426873" name="TextBox 9"/>
          <p:cNvSpPr txBox="1"/>
          <p:nvPr/>
        </p:nvSpPr>
        <p:spPr bwMode="auto">
          <a:xfrm>
            <a:off x="594360" y="1234440"/>
            <a:ext cx="5669999" cy="184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Tên đề tài: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Quản lý Sinh viên (QLSV)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Công nghệ: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C# WinForms + ASP.NET Core + SQL Server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3.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Mục tiêu: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Số hóa quản lý SV, môn học, điểm, xếp hạng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4.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Phạm vi: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3 tầng Client — Server — Database</a:t>
            </a:r>
            <a:endParaRPr/>
          </a:p>
        </p:txBody>
      </p:sp>
      <p:sp>
        <p:nvSpPr>
          <p:cNvPr id="1513102654" name="Rounded Rectangle 10"/>
          <p:cNvSpPr/>
          <p:nvPr/>
        </p:nvSpPr>
        <p:spPr bwMode="auto">
          <a:xfrm>
            <a:off x="6492240" y="1234440"/>
            <a:ext cx="5120640" cy="4480560"/>
          </a:xfrm>
          <a:prstGeom prst="roundRect">
            <a:avLst>
              <a:gd name="adj" fmla="val 16667"/>
            </a:avLst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275193" name="TextBox 11"/>
          <p:cNvSpPr txBox="1"/>
          <p:nvPr/>
        </p:nvSpPr>
        <p:spPr bwMode="auto">
          <a:xfrm>
            <a:off x="6492240" y="31546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rPr/>
              <a:t>[ Chèn hình ảnh ]</a:t>
            </a:r>
            <a:endParaRPr/>
          </a:p>
        </p:txBody>
      </p:sp>
      <p:sp>
        <p:nvSpPr>
          <p:cNvPr id="1989982372" name="TextBox 12"/>
          <p:cNvSpPr txBox="1"/>
          <p:nvPr/>
        </p:nvSpPr>
        <p:spPr bwMode="auto">
          <a:xfrm>
            <a:off x="6492240" y="35204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rPr/>
              <a:t>Logo TDMU / ảnh nhóm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21717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2631457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7235075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II</a:t>
            </a:r>
            <a:endParaRPr/>
          </a:p>
        </p:txBody>
      </p:sp>
      <p:sp>
        <p:nvSpPr>
          <p:cNvPr id="1135315400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Cấu trúc dự án</a:t>
            </a:r>
            <a:endParaRPr/>
          </a:p>
        </p:txBody>
      </p:sp>
      <p:sp>
        <p:nvSpPr>
          <p:cNvPr id="1214320572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Thư mục và phân chia công việc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8573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2142295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1947042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4832081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II</a:t>
            </a:r>
            <a:endParaRPr/>
          </a:p>
        </p:txBody>
      </p:sp>
      <p:sp>
        <p:nvSpPr>
          <p:cNvPr id="596749080" name="TextBox 5"/>
          <p:cNvSpPr txBox="1"/>
          <p:nvPr/>
        </p:nvSpPr>
        <p:spPr bwMode="auto">
          <a:xfrm>
            <a:off x="457200" y="292608"/>
            <a:ext cx="10988639" cy="488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Cấu Trúc Thư Mục Dự Án</a:t>
            </a:r>
            <a:endParaRPr/>
          </a:p>
        </p:txBody>
      </p:sp>
      <p:sp>
        <p:nvSpPr>
          <p:cNvPr id="2012995304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796311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1305062104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3/16</a:t>
            </a:r>
            <a:endParaRPr/>
          </a:p>
        </p:txBody>
      </p:sp>
      <p:sp>
        <p:nvSpPr>
          <p:cNvPr id="1216967111" name="Rounded Rectangle 9"/>
          <p:cNvSpPr/>
          <p:nvPr/>
        </p:nvSpPr>
        <p:spPr bwMode="auto">
          <a:xfrm>
            <a:off x="594360" y="1188720"/>
            <a:ext cx="5852160" cy="4892039"/>
          </a:xfrm>
          <a:prstGeom prst="roundRect">
            <a:avLst>
              <a:gd name="adj" fmla="val 16667"/>
            </a:avLst>
          </a:prstGeom>
          <a:solidFill>
            <a:srgbClr val="F0F2F8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5973555" name="TextBox 10"/>
          <p:cNvSpPr txBox="1"/>
          <p:nvPr/>
        </p:nvSpPr>
        <p:spPr bwMode="auto">
          <a:xfrm>
            <a:off x="777240" y="1325880"/>
            <a:ext cx="54864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Consolas"/>
              </a:defRPr>
            </a:pPr>
            <a:r>
              <a:rPr/>
              <a:t>QLSV_System/</a:t>
            </a:r>
            <a:br>
              <a:rPr/>
            </a:br>
            <a:r>
              <a:rPr/>
              <a:t>├── Client/          # WinForms - giao dien</a:t>
            </a:r>
            <a:br>
              <a:rPr/>
            </a:br>
            <a:r>
              <a:rPr/>
              <a:t>│   ├── View/        # frmLogin, frmMain, frmSv...</a:t>
            </a:r>
            <a:br>
              <a:rPr/>
            </a:br>
            <a:r>
              <a:rPr/>
              <a:t>│   ├── Controller/  # MainController</a:t>
            </a:r>
            <a:br>
              <a:rPr/>
            </a:br>
            <a:r>
              <a:rPr/>
              <a:t>│   └── Helper/</a:t>
            </a:r>
            <a:br>
              <a:rPr/>
            </a:br>
            <a:r>
              <a:rPr/>
              <a:t>├── Server/          # ASP.NET Core API</a:t>
            </a:r>
            <a:br>
              <a:rPr/>
            </a:br>
            <a:r>
              <a:rPr/>
              <a:t>│   ├── Controllers/ # (dang mo rong)</a:t>
            </a:r>
            <a:br>
              <a:rPr/>
            </a:br>
            <a:r>
              <a:rPr/>
              <a:t>│   └── Program.cs</a:t>
            </a:r>
            <a:br>
              <a:rPr/>
            </a:br>
            <a:r>
              <a:rPr/>
              <a:t>├── Database/        # SQL scripts</a:t>
            </a:r>
            <a:br>
              <a:rPr/>
            </a:br>
            <a:r>
              <a:rPr/>
              <a:t>│   ├── CSDL.sql</a:t>
            </a:r>
            <a:br>
              <a:rPr/>
            </a:br>
            <a:r>
              <a:rPr/>
              <a:t>│   ├── Procetures/</a:t>
            </a:r>
            <a:br>
              <a:rPr/>
            </a:br>
            <a:r>
              <a:rPr/>
              <a:t>│   ├── Functions/</a:t>
            </a:r>
            <a:br>
              <a:rPr/>
            </a:br>
            <a:r>
              <a:rPr/>
              <a:t>│   ├── Triggers/</a:t>
            </a:r>
            <a:br>
              <a:rPr/>
            </a:br>
            <a:r>
              <a:rPr/>
              <a:t>│   └── Views/</a:t>
            </a:r>
            <a:br>
              <a:rPr/>
            </a:br>
            <a:r>
              <a:rPr/>
              <a:t>└── Shared/          # Model dung chung</a:t>
            </a:r>
            <a:br>
              <a:rPr/>
            </a:br>
            <a:r>
              <a:rPr/>
              <a:t>    └── Objects/     # SinhVien, MonHoc...</a:t>
            </a:r>
            <a:endParaRPr/>
          </a:p>
        </p:txBody>
      </p:sp>
      <p:sp>
        <p:nvSpPr>
          <p:cNvPr id="1698017875" name="TextBox 11"/>
          <p:cNvSpPr txBox="1"/>
          <p:nvPr/>
        </p:nvSpPr>
        <p:spPr bwMode="auto">
          <a:xfrm>
            <a:off x="6675120" y="12344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Client: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UI hoàn thiện, chưa gọi API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Server: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Khung ASP.NET, chưa Repository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3.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Database: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Tập trung logic nghiệp vụ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4.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Shared: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Model dùng chung Client/Server</a:t>
            </a:r>
            <a:endParaRPr/>
          </a:p>
        </p:txBody>
      </p:sp>
      <p:sp>
        <p:nvSpPr>
          <p:cNvPr id="2009405712" name="Rounded Rectangle 12"/>
          <p:cNvSpPr/>
          <p:nvPr/>
        </p:nvSpPr>
        <p:spPr bwMode="auto">
          <a:xfrm>
            <a:off x="6675120" y="4114800"/>
            <a:ext cx="5029200" cy="1920240"/>
          </a:xfrm>
          <a:prstGeom prst="roundRect">
            <a:avLst>
              <a:gd name="adj" fmla="val 16667"/>
            </a:avLst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4670186" name="TextBox 13"/>
          <p:cNvSpPr txBox="1"/>
          <p:nvPr/>
        </p:nvSpPr>
        <p:spPr bwMode="auto">
          <a:xfrm>
            <a:off x="6675120" y="4754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rPr/>
              <a:t>[ Chèn hình ảnh ]</a:t>
            </a:r>
            <a:endParaRPr/>
          </a:p>
        </p:txBody>
      </p:sp>
      <p:sp>
        <p:nvSpPr>
          <p:cNvPr id="295556170" name="TextBox 14"/>
          <p:cNvSpPr txBox="1"/>
          <p:nvPr/>
        </p:nvSpPr>
        <p:spPr bwMode="auto">
          <a:xfrm>
            <a:off x="6675120" y="51206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rPr/>
              <a:t>Screenshot Solution Explorer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08702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9725536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5389635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III</a:t>
            </a:r>
            <a:endParaRPr/>
          </a:p>
        </p:txBody>
      </p:sp>
      <p:sp>
        <p:nvSpPr>
          <p:cNvPr id="1455982528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Kiến trúc &amp; Pipeline</a:t>
            </a:r>
            <a:endParaRPr/>
          </a:p>
        </p:txBody>
      </p:sp>
      <p:sp>
        <p:nvSpPr>
          <p:cNvPr id="1564173764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Luồng xử lý yêu cầu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9853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7100778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8970489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2751471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III</a:t>
            </a:r>
            <a:endParaRPr/>
          </a:p>
        </p:txBody>
      </p:sp>
      <p:sp>
        <p:nvSpPr>
          <p:cNvPr id="1503425529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Pipeline xu ly yeu cau (thiet ke)</a:t>
            </a:r>
            <a:endParaRPr/>
          </a:p>
        </p:txBody>
      </p:sp>
      <p:sp>
        <p:nvSpPr>
          <p:cNvPr id="2034740538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4539656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1727236902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4/16</a:t>
            </a:r>
            <a:endParaRPr/>
          </a:p>
        </p:txBody>
      </p:sp>
      <p:sp>
        <p:nvSpPr>
          <p:cNvPr id="1126803462" name="Rounded Rectangle 9"/>
          <p:cNvSpPr/>
          <p:nvPr/>
        </p:nvSpPr>
        <p:spPr bwMode="auto">
          <a:xfrm>
            <a:off x="411480" y="1828800"/>
            <a:ext cx="1783080" cy="2606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3892717" name="Rounded Rectangle 10"/>
          <p:cNvSpPr/>
          <p:nvPr/>
        </p:nvSpPr>
        <p:spPr bwMode="auto">
          <a:xfrm>
            <a:off x="411480" y="1828800"/>
            <a:ext cx="1783080" cy="347472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7328489" name="TextBox 11"/>
          <p:cNvSpPr txBox="1"/>
          <p:nvPr/>
        </p:nvSpPr>
        <p:spPr bwMode="auto">
          <a:xfrm>
            <a:off x="411480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1</a:t>
            </a:r>
            <a:endParaRPr/>
          </a:p>
        </p:txBody>
      </p:sp>
      <p:sp>
        <p:nvSpPr>
          <p:cNvPr id="556580372" name="TextBox 12"/>
          <p:cNvSpPr txBox="1"/>
          <p:nvPr/>
        </p:nvSpPr>
        <p:spPr bwMode="auto">
          <a:xfrm>
            <a:off x="502920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rPr/>
              <a:t>Client</a:t>
            </a:r>
            <a:endParaRPr/>
          </a:p>
        </p:txBody>
      </p:sp>
      <p:sp>
        <p:nvSpPr>
          <p:cNvPr id="1631960233" name="TextBox 13"/>
          <p:cNvSpPr txBox="1"/>
          <p:nvPr/>
        </p:nvSpPr>
        <p:spPr bwMode="auto">
          <a:xfrm>
            <a:off x="502920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rPr/>
              <a:t>User bam Luu diem</a:t>
            </a:r>
            <a:br>
              <a:rPr/>
            </a:br>
            <a:r>
              <a:rPr/>
              <a:t>frmChitietDiem</a:t>
            </a:r>
            <a:endParaRPr/>
          </a:p>
        </p:txBody>
      </p:sp>
      <p:sp>
        <p:nvSpPr>
          <p:cNvPr id="1687304581" name="TextBox 14"/>
          <p:cNvSpPr txBox="1"/>
          <p:nvPr/>
        </p:nvSpPr>
        <p:spPr bwMode="auto">
          <a:xfrm>
            <a:off x="2231136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rPr/>
              <a:t>&gt;</a:t>
            </a:r>
            <a:endParaRPr/>
          </a:p>
        </p:txBody>
      </p:sp>
      <p:sp>
        <p:nvSpPr>
          <p:cNvPr id="718103562" name="Rounded Rectangle 15"/>
          <p:cNvSpPr/>
          <p:nvPr/>
        </p:nvSpPr>
        <p:spPr bwMode="auto">
          <a:xfrm>
            <a:off x="2395728" y="1828800"/>
            <a:ext cx="1783080" cy="2606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7498895" name="Rounded Rectangle 16"/>
          <p:cNvSpPr/>
          <p:nvPr/>
        </p:nvSpPr>
        <p:spPr bwMode="auto">
          <a:xfrm>
            <a:off x="2395728" y="1828800"/>
            <a:ext cx="1783080" cy="347472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6372672" name="TextBox 17"/>
          <p:cNvSpPr txBox="1"/>
          <p:nvPr/>
        </p:nvSpPr>
        <p:spPr bwMode="auto">
          <a:xfrm>
            <a:off x="2395728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2</a:t>
            </a:r>
            <a:endParaRPr/>
          </a:p>
        </p:txBody>
      </p:sp>
      <p:sp>
        <p:nvSpPr>
          <p:cNvPr id="1661370032" name="TextBox 18"/>
          <p:cNvSpPr txBox="1"/>
          <p:nvPr/>
        </p:nvSpPr>
        <p:spPr bwMode="auto">
          <a:xfrm>
            <a:off x="2487168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rPr/>
              <a:t>HTTP</a:t>
            </a:r>
            <a:endParaRPr/>
          </a:p>
        </p:txBody>
      </p:sp>
      <p:sp>
        <p:nvSpPr>
          <p:cNvPr id="77345680" name="TextBox 19"/>
          <p:cNvSpPr txBox="1"/>
          <p:nvPr/>
        </p:nvSpPr>
        <p:spPr bwMode="auto">
          <a:xfrm>
            <a:off x="2487168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rPr/>
              <a:t>POST /api/diem</a:t>
            </a:r>
            <a:br>
              <a:rPr/>
            </a:br>
            <a:r>
              <a:rPr/>
              <a:t>(JSON MaSV, MaMH, diem...)</a:t>
            </a:r>
            <a:endParaRPr/>
          </a:p>
        </p:txBody>
      </p:sp>
      <p:sp>
        <p:nvSpPr>
          <p:cNvPr id="635663657" name="TextBox 20"/>
          <p:cNvSpPr txBox="1"/>
          <p:nvPr/>
        </p:nvSpPr>
        <p:spPr bwMode="auto">
          <a:xfrm>
            <a:off x="4215384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rPr/>
              <a:t>&gt;</a:t>
            </a:r>
            <a:endParaRPr/>
          </a:p>
        </p:txBody>
      </p:sp>
      <p:sp>
        <p:nvSpPr>
          <p:cNvPr id="799332311" name="Rounded Rectangle 21"/>
          <p:cNvSpPr/>
          <p:nvPr/>
        </p:nvSpPr>
        <p:spPr bwMode="auto">
          <a:xfrm>
            <a:off x="4379976" y="1828800"/>
            <a:ext cx="1783080" cy="2606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1102810" name="Rounded Rectangle 22"/>
          <p:cNvSpPr/>
          <p:nvPr/>
        </p:nvSpPr>
        <p:spPr bwMode="auto">
          <a:xfrm>
            <a:off x="4379976" y="1828800"/>
            <a:ext cx="1783080" cy="347472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650336" name="TextBox 23"/>
          <p:cNvSpPr txBox="1"/>
          <p:nvPr/>
        </p:nvSpPr>
        <p:spPr bwMode="auto">
          <a:xfrm>
            <a:off x="4379976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3</a:t>
            </a:r>
            <a:endParaRPr/>
          </a:p>
        </p:txBody>
      </p:sp>
      <p:sp>
        <p:nvSpPr>
          <p:cNvPr id="1556079728" name="TextBox 24"/>
          <p:cNvSpPr txBox="1"/>
          <p:nvPr/>
        </p:nvSpPr>
        <p:spPr bwMode="auto">
          <a:xfrm>
            <a:off x="4471416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rPr/>
              <a:t>Server</a:t>
            </a:r>
            <a:endParaRPr/>
          </a:p>
        </p:txBody>
      </p:sp>
      <p:sp>
        <p:nvSpPr>
          <p:cNvPr id="541034206" name="TextBox 25"/>
          <p:cNvSpPr txBox="1"/>
          <p:nvPr/>
        </p:nvSpPr>
        <p:spPr bwMode="auto">
          <a:xfrm>
            <a:off x="4471416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rPr/>
              <a:t>Controller -&gt;</a:t>
            </a:r>
            <a:br>
              <a:rPr/>
            </a:br>
            <a:r>
              <a:rPr/>
              <a:t>Repository</a:t>
            </a:r>
            <a:endParaRPr/>
          </a:p>
        </p:txBody>
      </p:sp>
      <p:sp>
        <p:nvSpPr>
          <p:cNvPr id="698867906" name="TextBox 26"/>
          <p:cNvSpPr txBox="1"/>
          <p:nvPr/>
        </p:nvSpPr>
        <p:spPr bwMode="auto">
          <a:xfrm>
            <a:off x="6199632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rPr/>
              <a:t>&gt;</a:t>
            </a:r>
            <a:endParaRPr/>
          </a:p>
        </p:txBody>
      </p:sp>
      <p:sp>
        <p:nvSpPr>
          <p:cNvPr id="1853464416" name="Rounded Rectangle 27"/>
          <p:cNvSpPr/>
          <p:nvPr/>
        </p:nvSpPr>
        <p:spPr bwMode="auto">
          <a:xfrm>
            <a:off x="6364224" y="1828800"/>
            <a:ext cx="1783080" cy="2606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6278906" name="Rounded Rectangle 28"/>
          <p:cNvSpPr/>
          <p:nvPr/>
        </p:nvSpPr>
        <p:spPr bwMode="auto">
          <a:xfrm>
            <a:off x="6364224" y="1828800"/>
            <a:ext cx="1783080" cy="347472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4343538" name="TextBox 29"/>
          <p:cNvSpPr txBox="1"/>
          <p:nvPr/>
        </p:nvSpPr>
        <p:spPr bwMode="auto">
          <a:xfrm>
            <a:off x="6364224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4</a:t>
            </a:r>
            <a:endParaRPr/>
          </a:p>
        </p:txBody>
      </p:sp>
      <p:sp>
        <p:nvSpPr>
          <p:cNvPr id="1158194521" name="TextBox 30"/>
          <p:cNvSpPr txBox="1"/>
          <p:nvPr/>
        </p:nvSpPr>
        <p:spPr bwMode="auto">
          <a:xfrm>
            <a:off x="6455664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rPr/>
              <a:t>SQL</a:t>
            </a:r>
            <a:endParaRPr/>
          </a:p>
        </p:txBody>
      </p:sp>
      <p:sp>
        <p:nvSpPr>
          <p:cNvPr id="173667638" name="TextBox 31"/>
          <p:cNvSpPr txBox="1"/>
          <p:nvPr/>
        </p:nvSpPr>
        <p:spPr bwMode="auto">
          <a:xfrm>
            <a:off x="6455664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rPr/>
              <a:t>EXEC CapNhatDiem</a:t>
            </a:r>
            <a:br>
              <a:rPr/>
            </a:br>
            <a:r>
              <a:rPr/>
              <a:t>@MaSV, @MaMH...</a:t>
            </a:r>
            <a:endParaRPr/>
          </a:p>
        </p:txBody>
      </p:sp>
      <p:sp>
        <p:nvSpPr>
          <p:cNvPr id="1184625419" name="TextBox 32"/>
          <p:cNvSpPr txBox="1"/>
          <p:nvPr/>
        </p:nvSpPr>
        <p:spPr bwMode="auto">
          <a:xfrm>
            <a:off x="8183880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rPr/>
              <a:t>&gt;</a:t>
            </a:r>
            <a:endParaRPr/>
          </a:p>
        </p:txBody>
      </p:sp>
      <p:sp>
        <p:nvSpPr>
          <p:cNvPr id="2039776868" name="Rounded Rectangle 33"/>
          <p:cNvSpPr/>
          <p:nvPr/>
        </p:nvSpPr>
        <p:spPr bwMode="auto">
          <a:xfrm>
            <a:off x="8348471" y="1828800"/>
            <a:ext cx="1783080" cy="2606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8963108" name="Rounded Rectangle 34"/>
          <p:cNvSpPr/>
          <p:nvPr/>
        </p:nvSpPr>
        <p:spPr bwMode="auto">
          <a:xfrm>
            <a:off x="8348471" y="1828800"/>
            <a:ext cx="1783080" cy="347472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1969449" name="TextBox 35"/>
          <p:cNvSpPr txBox="1"/>
          <p:nvPr/>
        </p:nvSpPr>
        <p:spPr bwMode="auto">
          <a:xfrm>
            <a:off x="8348471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5</a:t>
            </a:r>
            <a:endParaRPr/>
          </a:p>
        </p:txBody>
      </p:sp>
      <p:sp>
        <p:nvSpPr>
          <p:cNvPr id="33113546" name="TextBox 36"/>
          <p:cNvSpPr txBox="1"/>
          <p:nvPr/>
        </p:nvSpPr>
        <p:spPr bwMode="auto">
          <a:xfrm>
            <a:off x="8439912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rPr/>
              <a:t>Trigger</a:t>
            </a:r>
            <a:endParaRPr/>
          </a:p>
        </p:txBody>
      </p:sp>
      <p:sp>
        <p:nvSpPr>
          <p:cNvPr id="1851587337" name="TextBox 37"/>
          <p:cNvSpPr txBox="1"/>
          <p:nvPr/>
        </p:nvSpPr>
        <p:spPr bwMode="auto">
          <a:xfrm>
            <a:off x="8439912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rPr/>
              <a:t>trg_DiemThi_</a:t>
            </a:r>
            <a:br>
              <a:rPr/>
            </a:br>
            <a:r>
              <a:rPr/>
              <a:t>TinhTongKet</a:t>
            </a:r>
            <a:endParaRPr/>
          </a:p>
        </p:txBody>
      </p:sp>
      <p:sp>
        <p:nvSpPr>
          <p:cNvPr id="530882164" name="TextBox 38"/>
          <p:cNvSpPr txBox="1"/>
          <p:nvPr/>
        </p:nvSpPr>
        <p:spPr bwMode="auto">
          <a:xfrm>
            <a:off x="10168128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rPr/>
              <a:t>&gt;</a:t>
            </a:r>
            <a:endParaRPr/>
          </a:p>
        </p:txBody>
      </p:sp>
      <p:sp>
        <p:nvSpPr>
          <p:cNvPr id="876545805" name="Rounded Rectangle 39"/>
          <p:cNvSpPr/>
          <p:nvPr/>
        </p:nvSpPr>
        <p:spPr bwMode="auto">
          <a:xfrm>
            <a:off x="10332720" y="1828800"/>
            <a:ext cx="1783080" cy="2606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4796974" name="Rounded Rectangle 40"/>
          <p:cNvSpPr/>
          <p:nvPr/>
        </p:nvSpPr>
        <p:spPr bwMode="auto">
          <a:xfrm>
            <a:off x="10332720" y="1828800"/>
            <a:ext cx="1783080" cy="347472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8071615" name="TextBox 41"/>
          <p:cNvSpPr txBox="1"/>
          <p:nvPr/>
        </p:nvSpPr>
        <p:spPr bwMode="auto">
          <a:xfrm>
            <a:off x="10332720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6</a:t>
            </a:r>
            <a:endParaRPr/>
          </a:p>
        </p:txBody>
      </p:sp>
      <p:sp>
        <p:nvSpPr>
          <p:cNvPr id="2070924041" name="TextBox 42"/>
          <p:cNvSpPr txBox="1"/>
          <p:nvPr/>
        </p:nvSpPr>
        <p:spPr bwMode="auto">
          <a:xfrm>
            <a:off x="10424160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rPr/>
              <a:t>DB</a:t>
            </a:r>
            <a:endParaRPr/>
          </a:p>
        </p:txBody>
      </p:sp>
      <p:sp>
        <p:nvSpPr>
          <p:cNvPr id="201448409" name="TextBox 43"/>
          <p:cNvSpPr txBox="1"/>
          <p:nvPr/>
        </p:nvSpPr>
        <p:spPr bwMode="auto">
          <a:xfrm>
            <a:off x="10424160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rPr/>
              <a:t>Cap nhat TongKet,</a:t>
            </a:r>
            <a:br>
              <a:rPr/>
            </a:br>
            <a:r>
              <a:rPr/>
              <a:t>GPA, HocLuc</a:t>
            </a:r>
            <a:endParaRPr/>
          </a:p>
        </p:txBody>
      </p:sp>
      <p:sp>
        <p:nvSpPr>
          <p:cNvPr id="1402512792" name="Rounded Rectangle 44"/>
          <p:cNvSpPr/>
          <p:nvPr/>
        </p:nvSpPr>
        <p:spPr bwMode="auto">
          <a:xfrm>
            <a:off x="594360" y="4709160"/>
            <a:ext cx="10972800" cy="685800"/>
          </a:xfrm>
          <a:prstGeom prst="roundRect">
            <a:avLst>
              <a:gd name="adj" fmla="val 16667"/>
            </a:avLst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212657" name="TextBox 45"/>
          <p:cNvSpPr txBox="1"/>
          <p:nvPr/>
        </p:nvSpPr>
        <p:spPr bwMode="auto">
          <a:xfrm>
            <a:off x="777240" y="482803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E8B57"/>
                </a:solidFill>
                <a:latin typeface="Segoe UI"/>
              </a:defRPr>
            </a:pPr>
            <a:r>
              <a:rPr/>
              <a:t>Hien tai: UI + Database san sang  |  Server dang xay dung lop goi procedure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50824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9982911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8754933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IV</a:t>
            </a:r>
            <a:endParaRPr/>
          </a:p>
        </p:txBody>
      </p:sp>
      <p:sp>
        <p:nvSpPr>
          <p:cNvPr id="1994731787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Chức năng ứng dụng</a:t>
            </a:r>
            <a:endParaRPr/>
          </a:p>
        </p:txBody>
      </p:sp>
      <p:sp>
        <p:nvSpPr>
          <p:cNvPr id="1745230417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Ứng dụng làm gì?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01803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9861873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6321171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3762385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PHẦN IV</a:t>
            </a:r>
            <a:endParaRPr/>
          </a:p>
        </p:txBody>
      </p:sp>
      <p:sp>
        <p:nvSpPr>
          <p:cNvPr id="1321932709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Ứng dụng làm gì?</a:t>
            </a:r>
            <a:endParaRPr/>
          </a:p>
        </p:txBody>
      </p:sp>
      <p:sp>
        <p:nvSpPr>
          <p:cNvPr id="529932384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6425604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1642587078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5/16</a:t>
            </a:r>
            <a:endParaRPr/>
          </a:p>
        </p:txBody>
      </p:sp>
      <p:sp>
        <p:nvSpPr>
          <p:cNvPr id="1328057112" name="Rounded Rectangle 9"/>
          <p:cNvSpPr/>
          <p:nvPr/>
        </p:nvSpPr>
        <p:spPr bwMode="auto">
          <a:xfrm>
            <a:off x="594360" y="1234440"/>
            <a:ext cx="5349240" cy="196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3701432" name="Rounded Rectangle 10"/>
          <p:cNvSpPr/>
          <p:nvPr/>
        </p:nvSpPr>
        <p:spPr bwMode="auto">
          <a:xfrm>
            <a:off x="594360" y="1234440"/>
            <a:ext cx="5349240" cy="384048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7435359" name="TextBox 11"/>
          <p:cNvSpPr txBox="1"/>
          <p:nvPr/>
        </p:nvSpPr>
        <p:spPr bwMode="auto">
          <a:xfrm>
            <a:off x="777240" y="128930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/>
              <a:t>Quản lý SV</a:t>
            </a:r>
            <a:endParaRPr/>
          </a:p>
        </p:txBody>
      </p:sp>
      <p:sp>
        <p:nvSpPr>
          <p:cNvPr id="945422091" name="TextBox 12"/>
          <p:cNvSpPr txBox="1"/>
          <p:nvPr/>
        </p:nvSpPr>
        <p:spPr bwMode="auto">
          <a:xfrm>
            <a:off x="777240" y="17373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Segoe UI"/>
              </a:defRPr>
            </a:pPr>
            <a:r>
              <a:rPr/>
              <a:t>Thêm, sửa, tìm kiếm, lọc lớp, xóa hàng loạt</a:t>
            </a:r>
            <a:endParaRPr/>
          </a:p>
        </p:txBody>
      </p:sp>
      <p:sp>
        <p:nvSpPr>
          <p:cNvPr id="2028135263" name="Rounded Rectangle 13"/>
          <p:cNvSpPr/>
          <p:nvPr/>
        </p:nvSpPr>
        <p:spPr bwMode="auto">
          <a:xfrm>
            <a:off x="6263640" y="1234440"/>
            <a:ext cx="5349240" cy="196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8057123" name="Rounded Rectangle 14"/>
          <p:cNvSpPr/>
          <p:nvPr/>
        </p:nvSpPr>
        <p:spPr bwMode="auto">
          <a:xfrm>
            <a:off x="6263640" y="1234440"/>
            <a:ext cx="5349240" cy="384048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7300256" name="TextBox 15"/>
          <p:cNvSpPr txBox="1"/>
          <p:nvPr/>
        </p:nvSpPr>
        <p:spPr bwMode="auto">
          <a:xfrm>
            <a:off x="6446520" y="128930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/>
              <a:t>Quản lý môn</a:t>
            </a:r>
            <a:endParaRPr/>
          </a:p>
        </p:txBody>
      </p:sp>
      <p:sp>
        <p:nvSpPr>
          <p:cNvPr id="1242695823" name="TextBox 16"/>
          <p:cNvSpPr txBox="1"/>
          <p:nvPr/>
        </p:nvSpPr>
        <p:spPr bwMode="auto">
          <a:xfrm>
            <a:off x="6446520" y="17373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Segoe UI"/>
              </a:defRPr>
            </a:pPr>
            <a:r>
              <a:rPr/>
              <a:t>CRUD môn học, đăng ký môn cho SV</a:t>
            </a:r>
            <a:endParaRPr/>
          </a:p>
        </p:txBody>
      </p:sp>
      <p:sp>
        <p:nvSpPr>
          <p:cNvPr id="491556953" name="Rounded Rectangle 17"/>
          <p:cNvSpPr/>
          <p:nvPr/>
        </p:nvSpPr>
        <p:spPr bwMode="auto">
          <a:xfrm>
            <a:off x="594360" y="3474720"/>
            <a:ext cx="5349240" cy="196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260163" name="Rounded Rectangle 18"/>
          <p:cNvSpPr/>
          <p:nvPr/>
        </p:nvSpPr>
        <p:spPr bwMode="auto">
          <a:xfrm>
            <a:off x="594360" y="3474720"/>
            <a:ext cx="5349240" cy="384048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2677867" name="TextBox 19"/>
          <p:cNvSpPr txBox="1"/>
          <p:nvPr/>
        </p:nvSpPr>
        <p:spPr bwMode="auto">
          <a:xfrm>
            <a:off x="777240" y="352958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/>
              <a:t>Điểm số</a:t>
            </a:r>
            <a:endParaRPr/>
          </a:p>
        </p:txBody>
      </p:sp>
      <p:sp>
        <p:nvSpPr>
          <p:cNvPr id="1756725668" name="TextBox 20"/>
          <p:cNvSpPr txBox="1"/>
          <p:nvPr/>
        </p:nvSpPr>
        <p:spPr bwMode="auto">
          <a:xfrm>
            <a:off x="777240" y="397764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Segoe UI"/>
              </a:defRPr>
            </a:pPr>
            <a:r>
              <a:rPr/>
              <a:t>Nhập QT/GK/CK, xem GPA, học lực</a:t>
            </a:r>
            <a:endParaRPr/>
          </a:p>
        </p:txBody>
      </p:sp>
      <p:sp>
        <p:nvSpPr>
          <p:cNvPr id="311983843" name="Rounded Rectangle 21"/>
          <p:cNvSpPr/>
          <p:nvPr/>
        </p:nvSpPr>
        <p:spPr bwMode="auto">
          <a:xfrm>
            <a:off x="6263640" y="3474720"/>
            <a:ext cx="5349240" cy="196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9945102" name="Rounded Rectangle 22"/>
          <p:cNvSpPr/>
          <p:nvPr/>
        </p:nvSpPr>
        <p:spPr bwMode="auto">
          <a:xfrm>
            <a:off x="6263640" y="3474720"/>
            <a:ext cx="5349240" cy="384048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6359700" name="TextBox 23"/>
          <p:cNvSpPr txBox="1"/>
          <p:nvPr/>
        </p:nvSpPr>
        <p:spPr bwMode="auto">
          <a:xfrm>
            <a:off x="6446520" y="352958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/>
              <a:t>Báo cáo</a:t>
            </a:r>
            <a:endParaRPr/>
          </a:p>
        </p:txBody>
      </p:sp>
      <p:sp>
        <p:nvSpPr>
          <p:cNvPr id="521461150" name="TextBox 24"/>
          <p:cNvSpPr txBox="1"/>
          <p:nvPr/>
        </p:nvSpPr>
        <p:spPr bwMode="auto">
          <a:xfrm>
            <a:off x="6446520" y="397764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Segoe UI"/>
              </a:defRPr>
            </a:pPr>
            <a:r>
              <a:rPr/>
              <a:t>Xếp hạng, học bổng, cảnh báo học vụ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32488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4864080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4563329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V</a:t>
            </a:r>
            <a:endParaRPr/>
          </a:p>
        </p:txBody>
      </p:sp>
      <p:sp>
        <p:nvSpPr>
          <p:cNvPr id="1433371785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Tiến độ Client</a:t>
            </a:r>
            <a:endParaRPr/>
          </a:p>
        </p:txBody>
      </p:sp>
      <p:sp>
        <p:nvSpPr>
          <p:cNvPr id="2081359088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Giao diện WinForms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7336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060592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5586466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5335835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V</a:t>
            </a:r>
            <a:endParaRPr/>
          </a:p>
        </p:txBody>
      </p:sp>
      <p:sp>
        <p:nvSpPr>
          <p:cNvPr id="1173024022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Tien do Client</a:t>
            </a:r>
            <a:endParaRPr/>
          </a:p>
        </p:txBody>
      </p:sp>
      <p:sp>
        <p:nvSpPr>
          <p:cNvPr id="1384583951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6088146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313954975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6/16</a:t>
            </a:r>
            <a:endParaRPr/>
          </a:p>
        </p:txBody>
      </p:sp>
      <p:sp>
        <p:nvSpPr>
          <p:cNvPr id="1132128560" name="TextBox 9"/>
          <p:cNvSpPr txBox="1"/>
          <p:nvPr/>
        </p:nvSpPr>
        <p:spPr bwMode="auto">
          <a:xfrm>
            <a:off x="59436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frmLogin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Đăng nhập, xác thực tài khoản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frmMain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Menu điều hướng chính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3.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frmSv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Danh sách, lọc lớp, tìm kiếm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4.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frmChitietSinhVien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Hồ sơ, GPA, bảng điểm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5.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frmMonHoc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CRUD môn học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6.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frmXepHang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Báo cáo, thống kê xếp hạng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7.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Trạng thái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~90% hoàn thiện giao diện</a:t>
            </a:r>
            <a:endParaRPr/>
          </a:p>
        </p:txBody>
      </p:sp>
      <p:sp>
        <p:nvSpPr>
          <p:cNvPr id="1653318852" name="Rounded Rectangle 10"/>
          <p:cNvSpPr/>
          <p:nvPr/>
        </p:nvSpPr>
        <p:spPr bwMode="auto">
          <a:xfrm>
            <a:off x="6126480" y="1143000"/>
            <a:ext cx="5486400" cy="4846320"/>
          </a:xfrm>
          <a:prstGeom prst="roundRect">
            <a:avLst>
              <a:gd name="adj" fmla="val 16667"/>
            </a:avLst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4722007" name="TextBox 11"/>
          <p:cNvSpPr txBox="1"/>
          <p:nvPr/>
        </p:nvSpPr>
        <p:spPr bwMode="auto">
          <a:xfrm>
            <a:off x="6126480" y="32461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rPr/>
              <a:t>[ Chèn hình ảnh ]</a:t>
            </a:r>
            <a:endParaRPr/>
          </a:p>
        </p:txBody>
      </p:sp>
      <p:sp>
        <p:nvSpPr>
          <p:cNvPr id="177047311" name="TextBox 12"/>
          <p:cNvSpPr txBox="1"/>
          <p:nvPr/>
        </p:nvSpPr>
        <p:spPr bwMode="auto">
          <a:xfrm>
            <a:off x="6126480" y="36118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rPr/>
              <a:t>frmMain + frmSv (screenshot)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61865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5504655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567165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VI</a:t>
            </a:r>
            <a:endParaRPr/>
          </a:p>
        </p:txBody>
      </p:sp>
      <p:sp>
        <p:nvSpPr>
          <p:cNvPr id="905341408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Tiến độ Server</a:t>
            </a:r>
            <a:endParaRPr/>
          </a:p>
        </p:txBody>
      </p:sp>
      <p:sp>
        <p:nvSpPr>
          <p:cNvPr id="1569770278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ASP.NET Core API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08937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233955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3589510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7579414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VI</a:t>
            </a:r>
            <a:endParaRPr/>
          </a:p>
        </p:txBody>
      </p:sp>
      <p:sp>
        <p:nvSpPr>
          <p:cNvPr id="522076803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Tien do Server</a:t>
            </a:r>
            <a:endParaRPr/>
          </a:p>
        </p:txBody>
      </p:sp>
      <p:sp>
        <p:nvSpPr>
          <p:cNvPr id="2061421961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2534212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1553003817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7/16</a:t>
            </a:r>
            <a:endParaRPr/>
          </a:p>
        </p:txBody>
      </p:sp>
      <p:sp>
        <p:nvSpPr>
          <p:cNvPr id="949227324" name="TextBox 9"/>
          <p:cNvSpPr txBox="1"/>
          <p:nvPr/>
        </p:nvSpPr>
        <p:spPr bwMode="auto">
          <a:xfrm>
            <a:off x="59436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Nền tảng: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ASP.NET Core Web API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Hiện có: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Controllers, OpenAPI mẫu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3.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Kế hoạch: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Repository gọi Stored Procedure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4.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Hạ tầng: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Database Manager, middleware lỗi</a:t>
            </a:r>
            <a:endParaRPr/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16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5.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Bảo mật: </a:t>
            </a:r>
            <a:r>
              <a:rPr sz="1500" b="0" i="0">
                <a:solidFill>
                  <a:srgbClr val="262626"/>
                </a:solidFill>
                <a:latin typeface="Segoe UI"/>
              </a:rPr>
              <a:t>JWT / validation (giai đoạn sau)</a:t>
            </a:r>
            <a:endParaRPr/>
          </a:p>
        </p:txBody>
      </p:sp>
      <p:sp>
        <p:nvSpPr>
          <p:cNvPr id="1831456546" name="Rounded Rectangle 10"/>
          <p:cNvSpPr/>
          <p:nvPr/>
        </p:nvSpPr>
        <p:spPr bwMode="auto">
          <a:xfrm>
            <a:off x="6400800" y="1188720"/>
            <a:ext cx="5212080" cy="2194560"/>
          </a:xfrm>
          <a:prstGeom prst="roundRect">
            <a:avLst>
              <a:gd name="adj" fmla="val 16667"/>
            </a:avLst>
          </a:prstGeom>
          <a:solidFill>
            <a:srgbClr val="F0F2F8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9716028" name="TextBox 11"/>
          <p:cNvSpPr txBox="1"/>
          <p:nvPr/>
        </p:nvSpPr>
        <p:spPr bwMode="auto">
          <a:xfrm>
            <a:off x="6583680" y="132588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Consolas"/>
              </a:defRPr>
            </a:pPr>
            <a:r>
              <a:rPr/>
              <a:t>Client --HTTP--&gt; Controller</a:t>
            </a:r>
            <a:br>
              <a:rPr/>
            </a:br>
            <a:r>
              <a:rPr/>
              <a:t>       |</a:t>
            </a:r>
            <a:br>
              <a:rPr/>
            </a:br>
            <a:r>
              <a:rPr/>
              <a:t>  Repository</a:t>
            </a:r>
            <a:br>
              <a:rPr/>
            </a:br>
            <a:r>
              <a:rPr/>
              <a:t>       |</a:t>
            </a:r>
            <a:br>
              <a:rPr/>
            </a:br>
            <a:r>
              <a:rPr/>
              <a:t>  EXEC SP --&gt; SQL Server</a:t>
            </a:r>
            <a:endParaRPr/>
          </a:p>
        </p:txBody>
      </p:sp>
      <p:sp>
        <p:nvSpPr>
          <p:cNvPr id="2019786522" name="Rounded Rectangle 12"/>
          <p:cNvSpPr/>
          <p:nvPr/>
        </p:nvSpPr>
        <p:spPr bwMode="auto">
          <a:xfrm>
            <a:off x="6400800" y="3566160"/>
            <a:ext cx="5212080" cy="2377440"/>
          </a:xfrm>
          <a:prstGeom prst="roundRect">
            <a:avLst>
              <a:gd name="adj" fmla="val 16667"/>
            </a:avLst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2967220" name="TextBox 13"/>
          <p:cNvSpPr txBox="1"/>
          <p:nvPr/>
        </p:nvSpPr>
        <p:spPr bwMode="auto">
          <a:xfrm>
            <a:off x="6400800" y="44348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rPr/>
              <a:t>[ Chèn hình ảnh ]</a:t>
            </a:r>
            <a:endParaRPr/>
          </a:p>
        </p:txBody>
      </p:sp>
      <p:sp>
        <p:nvSpPr>
          <p:cNvPr id="667895646" name="TextBox 14"/>
          <p:cNvSpPr txBox="1"/>
          <p:nvPr/>
        </p:nvSpPr>
        <p:spPr bwMode="auto">
          <a:xfrm>
            <a:off x="6400800" y="480060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rPr/>
              <a:t>So do kien truc Server (ve them)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90163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102307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8482476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VII</a:t>
            </a:r>
            <a:endParaRPr/>
          </a:p>
        </p:txBody>
      </p:sp>
      <p:sp>
        <p:nvSpPr>
          <p:cNvPr id="899970600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Cơ sở dữ liệu</a:t>
            </a:r>
            <a:endParaRPr/>
          </a:p>
        </p:txBody>
      </p:sp>
      <p:sp>
        <p:nvSpPr>
          <p:cNvPr id="1279601283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Schema và logic SQL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63388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5726179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8325052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3889914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VII</a:t>
            </a:r>
            <a:endParaRPr/>
          </a:p>
        </p:txBody>
      </p:sp>
      <p:sp>
        <p:nvSpPr>
          <p:cNvPr id="312911071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Co so du lieu - Bang chinh</a:t>
            </a:r>
            <a:endParaRPr/>
          </a:p>
        </p:txBody>
      </p:sp>
      <p:sp>
        <p:nvSpPr>
          <p:cNvPr id="819822471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215123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222808126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8/16</a:t>
            </a:r>
            <a:endParaRPr/>
          </a:p>
        </p:txBody>
      </p:sp>
      <p:sp>
        <p:nvSpPr>
          <p:cNvPr id="589317747" name="Rounded Rectangle 9"/>
          <p:cNvSpPr/>
          <p:nvPr/>
        </p:nvSpPr>
        <p:spPr bwMode="auto">
          <a:xfrm>
            <a:off x="594360" y="1234440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514282" name="TextBox 10"/>
          <p:cNvSpPr txBox="1"/>
          <p:nvPr/>
        </p:nvSpPr>
        <p:spPr bwMode="auto">
          <a:xfrm>
            <a:off x="594360" y="1362455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/>
              <a:t>SinhVien</a:t>
            </a:r>
            <a:endParaRPr/>
          </a:p>
        </p:txBody>
      </p:sp>
      <p:sp>
        <p:nvSpPr>
          <p:cNvPr id="883173422" name="Rounded Rectangle 11"/>
          <p:cNvSpPr/>
          <p:nvPr/>
        </p:nvSpPr>
        <p:spPr bwMode="auto">
          <a:xfrm>
            <a:off x="2697480" y="1234440"/>
            <a:ext cx="8686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0248736" name="TextBox 12"/>
          <p:cNvSpPr txBox="1"/>
          <p:nvPr/>
        </p:nvSpPr>
        <p:spPr bwMode="auto">
          <a:xfrm>
            <a:off x="2834640" y="1380744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rPr/>
              <a:t>MaSV, HoTen, MaLop, DiemTB, HocLuc</a:t>
            </a:r>
            <a:endParaRPr/>
          </a:p>
        </p:txBody>
      </p:sp>
      <p:sp>
        <p:nvSpPr>
          <p:cNvPr id="780284581" name="Rounded Rectangle 13"/>
          <p:cNvSpPr/>
          <p:nvPr/>
        </p:nvSpPr>
        <p:spPr bwMode="auto">
          <a:xfrm>
            <a:off x="594360" y="2039112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3342494" name="TextBox 14"/>
          <p:cNvSpPr txBox="1"/>
          <p:nvPr/>
        </p:nvSpPr>
        <p:spPr bwMode="auto">
          <a:xfrm>
            <a:off x="594360" y="216712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/>
              <a:t>MonHoc</a:t>
            </a:r>
            <a:endParaRPr/>
          </a:p>
        </p:txBody>
      </p:sp>
      <p:sp>
        <p:nvSpPr>
          <p:cNvPr id="1916992940" name="Rounded Rectangle 15"/>
          <p:cNvSpPr/>
          <p:nvPr/>
        </p:nvSpPr>
        <p:spPr bwMode="auto">
          <a:xfrm>
            <a:off x="2697480" y="2039112"/>
            <a:ext cx="8686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0558287" name="TextBox 16"/>
          <p:cNvSpPr txBox="1"/>
          <p:nvPr/>
        </p:nvSpPr>
        <p:spPr bwMode="auto">
          <a:xfrm>
            <a:off x="2834640" y="2185416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rPr/>
              <a:t>MaMH, TenMH, SoTinChi, GiangVien</a:t>
            </a:r>
            <a:endParaRPr/>
          </a:p>
        </p:txBody>
      </p:sp>
      <p:sp>
        <p:nvSpPr>
          <p:cNvPr id="892957311" name="Rounded Rectangle 17"/>
          <p:cNvSpPr/>
          <p:nvPr/>
        </p:nvSpPr>
        <p:spPr bwMode="auto">
          <a:xfrm>
            <a:off x="594360" y="2843784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0078047" name="TextBox 18"/>
          <p:cNvSpPr txBox="1"/>
          <p:nvPr/>
        </p:nvSpPr>
        <p:spPr bwMode="auto">
          <a:xfrm>
            <a:off x="594360" y="29718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/>
              <a:t>DiemThi</a:t>
            </a:r>
            <a:endParaRPr/>
          </a:p>
        </p:txBody>
      </p:sp>
      <p:sp>
        <p:nvSpPr>
          <p:cNvPr id="674550111" name="Rounded Rectangle 19"/>
          <p:cNvSpPr/>
          <p:nvPr/>
        </p:nvSpPr>
        <p:spPr bwMode="auto">
          <a:xfrm>
            <a:off x="2697480" y="2843784"/>
            <a:ext cx="8686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3159303" name="TextBox 20"/>
          <p:cNvSpPr txBox="1"/>
          <p:nvPr/>
        </p:nvSpPr>
        <p:spPr bwMode="auto">
          <a:xfrm>
            <a:off x="2834640" y="2990088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rPr/>
              <a:t>MaSV, MaMH, QT, GK, CK, TongKet</a:t>
            </a:r>
            <a:endParaRPr/>
          </a:p>
        </p:txBody>
      </p:sp>
      <p:sp>
        <p:nvSpPr>
          <p:cNvPr id="1542881640" name="Rounded Rectangle 21"/>
          <p:cNvSpPr/>
          <p:nvPr/>
        </p:nvSpPr>
        <p:spPr bwMode="auto">
          <a:xfrm>
            <a:off x="594360" y="3648456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35775" name="TextBox 22"/>
          <p:cNvSpPr txBox="1"/>
          <p:nvPr/>
        </p:nvSpPr>
        <p:spPr bwMode="auto">
          <a:xfrm>
            <a:off x="594360" y="377647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/>
              <a:t>LopHoc</a:t>
            </a:r>
            <a:endParaRPr/>
          </a:p>
        </p:txBody>
      </p:sp>
      <p:sp>
        <p:nvSpPr>
          <p:cNvPr id="1707368500" name="Rounded Rectangle 23"/>
          <p:cNvSpPr/>
          <p:nvPr/>
        </p:nvSpPr>
        <p:spPr bwMode="auto">
          <a:xfrm>
            <a:off x="2697480" y="3648456"/>
            <a:ext cx="8686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8680573" name="TextBox 24"/>
          <p:cNvSpPr txBox="1"/>
          <p:nvPr/>
        </p:nvSpPr>
        <p:spPr bwMode="auto">
          <a:xfrm>
            <a:off x="2834640" y="379476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rPr/>
              <a:t>MaLop, TenLop, Khoa</a:t>
            </a:r>
            <a:endParaRPr/>
          </a:p>
        </p:txBody>
      </p:sp>
      <p:sp>
        <p:nvSpPr>
          <p:cNvPr id="1960729277" name="Rounded Rectangle 25"/>
          <p:cNvSpPr/>
          <p:nvPr/>
        </p:nvSpPr>
        <p:spPr bwMode="auto">
          <a:xfrm>
            <a:off x="594360" y="4453128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9762642" name="TextBox 26"/>
          <p:cNvSpPr txBox="1"/>
          <p:nvPr/>
        </p:nvSpPr>
        <p:spPr bwMode="auto">
          <a:xfrm>
            <a:off x="594360" y="4581144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/>
              <a:t>TaiKhoan</a:t>
            </a:r>
            <a:endParaRPr/>
          </a:p>
        </p:txBody>
      </p:sp>
      <p:sp>
        <p:nvSpPr>
          <p:cNvPr id="1882724791" name="Rounded Rectangle 27"/>
          <p:cNvSpPr/>
          <p:nvPr/>
        </p:nvSpPr>
        <p:spPr bwMode="auto">
          <a:xfrm>
            <a:off x="2697480" y="4453128"/>
            <a:ext cx="8686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7889725" name="TextBox 28"/>
          <p:cNvSpPr txBox="1"/>
          <p:nvPr/>
        </p:nvSpPr>
        <p:spPr bwMode="auto">
          <a:xfrm>
            <a:off x="2834640" y="4599432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rPr/>
              <a:t>Dang nhap, QuyenHan</a:t>
            </a:r>
            <a:endParaRPr/>
          </a:p>
        </p:txBody>
      </p:sp>
      <p:sp>
        <p:nvSpPr>
          <p:cNvPr id="1619237966" name="TextBox 29"/>
          <p:cNvSpPr txBox="1"/>
          <p:nvPr/>
        </p:nvSpPr>
        <p:spPr bwMode="auto">
          <a:xfrm>
            <a:off x="594360" y="5486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96973"/>
                </a:solidFill>
                <a:latin typeface="Segoe UI"/>
              </a:defRPr>
            </a:pPr>
            <a:r>
              <a:rPr/>
              <a:t>Du lieu mau: 20 SV, 15 mon, 5 lop  |  FK + CHECK diem 0-10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43966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6196149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537939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2458573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VII</a:t>
            </a:r>
            <a:endParaRPr/>
          </a:p>
        </p:txBody>
      </p:sp>
      <p:sp>
        <p:nvSpPr>
          <p:cNvPr id="1775931623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Database - SP, Function, Trigger, View</a:t>
            </a:r>
            <a:endParaRPr/>
          </a:p>
        </p:txBody>
      </p:sp>
      <p:sp>
        <p:nvSpPr>
          <p:cNvPr id="806603430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930774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24301569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9/16</a:t>
            </a:r>
            <a:endParaRPr/>
          </a:p>
        </p:txBody>
      </p:sp>
      <p:sp>
        <p:nvSpPr>
          <p:cNvPr id="1957971810" name="Rounded Rectangle 9"/>
          <p:cNvSpPr/>
          <p:nvPr/>
        </p:nvSpPr>
        <p:spPr bwMode="auto">
          <a:xfrm>
            <a:off x="594360" y="1234440"/>
            <a:ext cx="269748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8849461" name="Rounded Rectangle 10"/>
          <p:cNvSpPr/>
          <p:nvPr/>
        </p:nvSpPr>
        <p:spPr bwMode="auto">
          <a:xfrm>
            <a:off x="594360" y="1234440"/>
            <a:ext cx="2697480" cy="365760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5058772" name="TextBox 11"/>
          <p:cNvSpPr txBox="1"/>
          <p:nvPr/>
        </p:nvSpPr>
        <p:spPr bwMode="auto">
          <a:xfrm>
            <a:off x="594360" y="128016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Procedure (9)</a:t>
            </a:r>
            <a:endParaRPr/>
          </a:p>
        </p:txBody>
      </p:sp>
      <p:sp>
        <p:nvSpPr>
          <p:cNvPr id="695143782" name="TextBox 12"/>
          <p:cNvSpPr txBox="1"/>
          <p:nvPr/>
        </p:nvSpPr>
        <p:spPr bwMode="auto">
          <a:xfrm>
            <a:off x="731520" y="169164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XacThucDangNhap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LayDanhSachSinhVien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TimKiemSinhVien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ThemSinhVien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CapNhatDiem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TinhDiemTrungBinh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LayBaoCaoXepHang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DemSinhVienGioi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LayDanhSachMonHoc</a:t>
            </a:r>
            <a:endParaRPr/>
          </a:p>
        </p:txBody>
      </p:sp>
      <p:sp>
        <p:nvSpPr>
          <p:cNvPr id="623775543" name="Rounded Rectangle 13"/>
          <p:cNvSpPr/>
          <p:nvPr/>
        </p:nvSpPr>
        <p:spPr bwMode="auto">
          <a:xfrm>
            <a:off x="3474720" y="1234440"/>
            <a:ext cx="269748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4404357" name="Rounded Rectangle 14"/>
          <p:cNvSpPr/>
          <p:nvPr/>
        </p:nvSpPr>
        <p:spPr bwMode="auto">
          <a:xfrm>
            <a:off x="3474720" y="1234440"/>
            <a:ext cx="2697480" cy="365760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9735919" name="TextBox 15"/>
          <p:cNvSpPr txBox="1"/>
          <p:nvPr/>
        </p:nvSpPr>
        <p:spPr bwMode="auto">
          <a:xfrm>
            <a:off x="3474720" y="128016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Function (2)</a:t>
            </a:r>
            <a:endParaRPr/>
          </a:p>
        </p:txBody>
      </p:sp>
      <p:sp>
        <p:nvSpPr>
          <p:cNvPr id="898212269" name="TextBox 16"/>
          <p:cNvSpPr txBox="1"/>
          <p:nvPr/>
        </p:nvSpPr>
        <p:spPr bwMode="auto">
          <a:xfrm>
            <a:off x="3611880" y="169164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fn_TinhDiemTongKet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fn_XepLoaiHocLuc</a:t>
            </a:r>
            <a:endParaRPr/>
          </a:p>
        </p:txBody>
      </p:sp>
      <p:sp>
        <p:nvSpPr>
          <p:cNvPr id="1537781596" name="Rounded Rectangle 17"/>
          <p:cNvSpPr/>
          <p:nvPr/>
        </p:nvSpPr>
        <p:spPr bwMode="auto">
          <a:xfrm>
            <a:off x="6355080" y="1234440"/>
            <a:ext cx="269748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182327" name="Rounded Rectangle 18"/>
          <p:cNvSpPr/>
          <p:nvPr/>
        </p:nvSpPr>
        <p:spPr bwMode="auto">
          <a:xfrm>
            <a:off x="6355080" y="1234440"/>
            <a:ext cx="2697480" cy="365760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677915" name="TextBox 19"/>
          <p:cNvSpPr txBox="1"/>
          <p:nvPr/>
        </p:nvSpPr>
        <p:spPr bwMode="auto">
          <a:xfrm>
            <a:off x="6355080" y="128016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Trigger (1)</a:t>
            </a:r>
            <a:endParaRPr/>
          </a:p>
        </p:txBody>
      </p:sp>
      <p:sp>
        <p:nvSpPr>
          <p:cNvPr id="1377595912" name="TextBox 20"/>
          <p:cNvSpPr txBox="1"/>
          <p:nvPr/>
        </p:nvSpPr>
        <p:spPr bwMode="auto">
          <a:xfrm>
            <a:off x="6492240" y="169164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trg_DiemThi_TinhTongKet</a:t>
            </a:r>
            <a:endParaRPr/>
          </a:p>
        </p:txBody>
      </p:sp>
      <p:sp>
        <p:nvSpPr>
          <p:cNvPr id="474228552" name="Rounded Rectangle 21"/>
          <p:cNvSpPr/>
          <p:nvPr/>
        </p:nvSpPr>
        <p:spPr bwMode="auto">
          <a:xfrm>
            <a:off x="9235440" y="1234440"/>
            <a:ext cx="269748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6682294" name="Rounded Rectangle 22"/>
          <p:cNvSpPr/>
          <p:nvPr/>
        </p:nvSpPr>
        <p:spPr bwMode="auto">
          <a:xfrm>
            <a:off x="9235440" y="1234440"/>
            <a:ext cx="2697480" cy="365760"/>
          </a:xfrm>
          <a:prstGeom prst="roundRect">
            <a:avLst>
              <a:gd name="adj" fmla="val 16667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9885757" name="TextBox 23"/>
          <p:cNvSpPr txBox="1"/>
          <p:nvPr/>
        </p:nvSpPr>
        <p:spPr bwMode="auto">
          <a:xfrm>
            <a:off x="9235440" y="128016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/>
              <a:t>View (2)</a:t>
            </a:r>
            <a:endParaRPr/>
          </a:p>
        </p:txBody>
      </p:sp>
      <p:sp>
        <p:nvSpPr>
          <p:cNvPr id="1749560780" name="TextBox 24"/>
          <p:cNvSpPr txBox="1"/>
          <p:nvPr/>
        </p:nvSpPr>
        <p:spPr bwMode="auto">
          <a:xfrm>
            <a:off x="9372600" y="169164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vw_BangXepHang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1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100" b="0" i="0">
                <a:solidFill>
                  <a:srgbClr val="262626"/>
                </a:solidFill>
                <a:latin typeface="Segoe UI"/>
              </a:rPr>
              <a:t>vw_BaoCaoThanhTich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93699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809133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0725360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0605522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VII</a:t>
            </a:r>
            <a:endParaRPr/>
          </a:p>
        </p:txBody>
      </p:sp>
      <p:sp>
        <p:nvSpPr>
          <p:cNvPr id="379371904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Cong thuc tinh diem</a:t>
            </a:r>
            <a:endParaRPr/>
          </a:p>
        </p:txBody>
      </p:sp>
      <p:sp>
        <p:nvSpPr>
          <p:cNvPr id="892189195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9049720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1954583244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10/16</a:t>
            </a:r>
            <a:endParaRPr/>
          </a:p>
        </p:txBody>
      </p:sp>
      <p:sp>
        <p:nvSpPr>
          <p:cNvPr id="1937899303" name="Rounded Rectangle 9"/>
          <p:cNvSpPr/>
          <p:nvPr/>
        </p:nvSpPr>
        <p:spPr bwMode="auto">
          <a:xfrm>
            <a:off x="594360" y="1234440"/>
            <a:ext cx="5303520" cy="100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5400051" name="TextBox 10"/>
          <p:cNvSpPr txBox="1"/>
          <p:nvPr/>
        </p:nvSpPr>
        <p:spPr bwMode="auto">
          <a:xfrm>
            <a:off x="777240" y="1417320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1E44"/>
                </a:solidFill>
                <a:latin typeface="Segoe UI"/>
              </a:defRPr>
            </a:pPr>
            <a:r>
              <a:rPr/>
              <a:t>Diem mon = QT x 20% + GK x 30% + CK x 50%</a:t>
            </a:r>
            <a:endParaRPr/>
          </a:p>
        </p:txBody>
      </p:sp>
      <p:sp>
        <p:nvSpPr>
          <p:cNvPr id="1999200175" name="Rounded Rectangle 11"/>
          <p:cNvSpPr/>
          <p:nvPr/>
        </p:nvSpPr>
        <p:spPr bwMode="auto">
          <a:xfrm>
            <a:off x="594360" y="2423160"/>
            <a:ext cx="5303520" cy="100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9966473" name="TextBox 12"/>
          <p:cNvSpPr txBox="1"/>
          <p:nvPr/>
        </p:nvSpPr>
        <p:spPr bwMode="auto">
          <a:xfrm>
            <a:off x="777240" y="2606040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1E44"/>
                </a:solidFill>
                <a:latin typeface="Segoe UI"/>
              </a:defRPr>
            </a:pPr>
            <a:r>
              <a:rPr/>
              <a:t>GPA = SUM(TongKet x TinChi) / SUM(TinChi)</a:t>
            </a:r>
            <a:endParaRPr/>
          </a:p>
        </p:txBody>
      </p:sp>
      <p:sp>
        <p:nvSpPr>
          <p:cNvPr id="1480990859" name="TextBox 13"/>
          <p:cNvSpPr txBox="1"/>
          <p:nvPr/>
        </p:nvSpPr>
        <p:spPr bwMode="auto">
          <a:xfrm>
            <a:off x="594360" y="36576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Xuat sac &gt;= 9.0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Gioi &gt;= 8.0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Kha &gt;= 6.5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Trung binh &gt;= 5.0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3CB37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Yeu &lt; 5.0</a:t>
            </a:r>
            <a:endParaRPr/>
          </a:p>
        </p:txBody>
      </p:sp>
      <p:sp>
        <p:nvSpPr>
          <p:cNvPr id="931594312" name="Rounded Rectangle 14"/>
          <p:cNvSpPr/>
          <p:nvPr/>
        </p:nvSpPr>
        <p:spPr bwMode="auto">
          <a:xfrm>
            <a:off x="6126480" y="1234440"/>
            <a:ext cx="5486400" cy="4572000"/>
          </a:xfrm>
          <a:prstGeom prst="roundRect">
            <a:avLst>
              <a:gd name="adj" fmla="val 16667"/>
            </a:avLst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2854435" name="TextBox 15"/>
          <p:cNvSpPr txBox="1"/>
          <p:nvPr/>
        </p:nvSpPr>
        <p:spPr bwMode="auto">
          <a:xfrm>
            <a:off x="6126480" y="3200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rPr/>
              <a:t>[ Chèn hình ảnh ]</a:t>
            </a:r>
            <a:endParaRPr/>
          </a:p>
        </p:txBody>
      </p:sp>
      <p:sp>
        <p:nvSpPr>
          <p:cNvPr id="721425977" name="TextBox 16"/>
          <p:cNvSpPr txBox="1"/>
          <p:nvPr/>
        </p:nvSpPr>
        <p:spPr bwMode="auto">
          <a:xfrm>
            <a:off x="6126480" y="35661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rPr/>
              <a:t>frmChitietDiem - cong thuc 20-30-50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32815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4131167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5212627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VIII</a:t>
            </a:r>
            <a:endParaRPr/>
          </a:p>
        </p:txBody>
      </p:sp>
      <p:sp>
        <p:nvSpPr>
          <p:cNvPr id="1781483039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Trigger tự động</a:t>
            </a:r>
            <a:endParaRPr/>
          </a:p>
        </p:txBody>
      </p:sp>
      <p:sp>
        <p:nvSpPr>
          <p:cNvPr id="1777221878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Cập nhật điểm thời gian thực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2688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6770974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3849827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3704289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VIII</a:t>
            </a:r>
            <a:endParaRPr/>
          </a:p>
        </p:txBody>
      </p:sp>
      <p:sp>
        <p:nvSpPr>
          <p:cNvPr id="93641465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Khi sua diem: Trigger tu dong tinh</a:t>
            </a:r>
            <a:endParaRPr/>
          </a:p>
        </p:txBody>
      </p:sp>
      <p:sp>
        <p:nvSpPr>
          <p:cNvPr id="1313663347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37372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1511384387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11/16</a:t>
            </a:r>
            <a:endParaRPr/>
          </a:p>
        </p:txBody>
      </p:sp>
      <p:sp>
        <p:nvSpPr>
          <p:cNvPr id="1185677393" name="TextBox 9"/>
          <p:cNvSpPr txBox="1"/>
          <p:nvPr/>
        </p:nvSpPr>
        <p:spPr bwMode="auto">
          <a:xfrm>
            <a:off x="59436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Nhập điểm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Giảng viên nhập QT, GK, CK trên form Client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Gọi procedure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Server: EXEC CapNhatDiem ...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3.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Ghi DB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INSERT / UPDATE bảng DiemThi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4.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Trigger kích hoạt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AFTER INSERT, UPDATE trên DiemThi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5.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Tính điểm môn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fn_TinhDiemTongKet (20-30-50%) → TongKet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6.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Tính GPA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Trung bình có trọng số tín chỉ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7.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Xếp loại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fn_XepLoaiHocLuc → cập nhật SinhVien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8.  </a:t>
            </a:r>
            <a:r>
              <a:rPr sz="1500" b="1" i="0">
                <a:solidFill>
                  <a:srgbClr val="1F1E44"/>
                </a:solidFill>
                <a:latin typeface="Segoe UI"/>
              </a:rPr>
              <a:t>Hiển thị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400" b="0" i="0">
                <a:solidFill>
                  <a:srgbClr val="696973"/>
                </a:solidFill>
                <a:latin typeface="Segoe UI"/>
              </a:rPr>
              <a:t>     Client đọc DiemTB, HocLuc đã cập nhật</a:t>
            </a:r>
            <a:endParaRPr/>
          </a:p>
        </p:txBody>
      </p:sp>
      <p:sp>
        <p:nvSpPr>
          <p:cNvPr id="83474286" name="Rounded Rectangle 10"/>
          <p:cNvSpPr/>
          <p:nvPr/>
        </p:nvSpPr>
        <p:spPr bwMode="auto">
          <a:xfrm>
            <a:off x="6263640" y="1188720"/>
            <a:ext cx="5349240" cy="2926080"/>
          </a:xfrm>
          <a:prstGeom prst="roundRect">
            <a:avLst>
              <a:gd name="adj" fmla="val 16667"/>
            </a:avLst>
          </a:prstGeom>
          <a:solidFill>
            <a:srgbClr val="F0F2F8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5689511" name="TextBox 11"/>
          <p:cNvSpPr txBox="1"/>
          <p:nvPr/>
        </p:nvSpPr>
        <p:spPr bwMode="auto">
          <a:xfrm>
            <a:off x="6446520" y="1325880"/>
            <a:ext cx="5029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2626"/>
                </a:solidFill>
                <a:latin typeface="Consolas"/>
              </a:defRPr>
            </a:pPr>
            <a:r>
              <a:rPr/>
              <a:t>CREATE TRIGGER trg_DiemThi_TinhTongKet</a:t>
            </a:r>
            <a:br>
              <a:rPr/>
            </a:br>
            <a:r>
              <a:rPr/>
              <a:t>ON DiemThi AFTER INSERT, UPDATE</a:t>
            </a:r>
            <a:br>
              <a:rPr/>
            </a:br>
            <a:r>
              <a:rPr/>
              <a:t>AS</a:t>
            </a:r>
            <a:br>
              <a:rPr/>
            </a:br>
            <a:r>
              <a:rPr/>
              <a:t>  UPDATE DiemThi SET TongKet =</a:t>
            </a:r>
            <a:br>
              <a:rPr/>
            </a:br>
            <a:r>
              <a:rPr/>
              <a:t>    fn_TinhDiemTongKet(...)</a:t>
            </a:r>
            <a:br>
              <a:rPr/>
            </a:br>
            <a:r>
              <a:rPr/>
              <a:t>  UPDATE SinhVien SET</a:t>
            </a:r>
            <a:br>
              <a:rPr/>
            </a:br>
            <a:r>
              <a:rPr/>
              <a:t>    DiemTB = ..., HocLuc = ...</a:t>
            </a:r>
            <a:endParaRPr/>
          </a:p>
        </p:txBody>
      </p:sp>
      <p:sp>
        <p:nvSpPr>
          <p:cNvPr id="547927491" name="Rounded Rectangle 12"/>
          <p:cNvSpPr/>
          <p:nvPr/>
        </p:nvSpPr>
        <p:spPr bwMode="auto">
          <a:xfrm>
            <a:off x="6263640" y="4251960"/>
            <a:ext cx="5349240" cy="1600200"/>
          </a:xfrm>
          <a:prstGeom prst="roundRect">
            <a:avLst>
              <a:gd name="adj" fmla="val 16667"/>
            </a:avLst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4018499" name="TextBox 13"/>
          <p:cNvSpPr txBox="1"/>
          <p:nvPr/>
        </p:nvSpPr>
        <p:spPr bwMode="auto">
          <a:xfrm>
            <a:off x="6263640" y="473202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rPr/>
              <a:t>[ Chèn hình ảnh ]</a:t>
            </a:r>
            <a:endParaRPr/>
          </a:p>
        </p:txBody>
      </p:sp>
      <p:sp>
        <p:nvSpPr>
          <p:cNvPr id="1189793364" name="TextBox 14"/>
          <p:cNvSpPr txBox="1"/>
          <p:nvPr/>
        </p:nvSpPr>
        <p:spPr bwMode="auto">
          <a:xfrm>
            <a:off x="6263640" y="5097780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rPr/>
              <a:t>frmChitietDiem.png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96678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6426054" name="Rectangle 2"/>
          <p:cNvSpPr/>
          <p:nvPr/>
        </p:nvSpPr>
        <p:spPr bwMode="auto"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2778346" name="TextBox 3"/>
          <p:cNvSpPr txBox="1"/>
          <p:nvPr/>
        </p:nvSpPr>
        <p:spPr bwMode="auto"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rPr/>
              <a:t>IX</a:t>
            </a:r>
            <a:endParaRPr/>
          </a:p>
        </p:txBody>
      </p:sp>
      <p:sp>
        <p:nvSpPr>
          <p:cNvPr id="337798406" name="TextBox 4"/>
          <p:cNvSpPr txBox="1"/>
          <p:nvPr/>
        </p:nvSpPr>
        <p:spPr bwMode="auto"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Demo &amp; Kế hoạch</a:t>
            </a:r>
            <a:endParaRPr/>
          </a:p>
        </p:txBody>
      </p:sp>
      <p:sp>
        <p:nvSpPr>
          <p:cNvPr id="1999665599" name="TextBox 5"/>
          <p:cNvSpPr txBox="1"/>
          <p:nvPr/>
        </p:nvSpPr>
        <p:spPr bwMode="auto"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rPr/>
              <a:t>Trình bày và hướng phát triển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99966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2555553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6439829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6873711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PHAN IX</a:t>
            </a:r>
            <a:endParaRPr/>
          </a:p>
        </p:txBody>
      </p:sp>
      <p:sp>
        <p:nvSpPr>
          <p:cNvPr id="739634791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Demo SQL Server</a:t>
            </a:r>
            <a:endParaRPr/>
          </a:p>
        </p:txBody>
      </p:sp>
      <p:sp>
        <p:nvSpPr>
          <p:cNvPr id="75669430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80268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400009415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12/16</a:t>
            </a:r>
            <a:endParaRPr/>
          </a:p>
        </p:txBody>
      </p:sp>
      <p:sp>
        <p:nvSpPr>
          <p:cNvPr id="1115662165" name="Rounded Rectangle 9"/>
          <p:cNvSpPr/>
          <p:nvPr/>
        </p:nvSpPr>
        <p:spPr bwMode="auto">
          <a:xfrm>
            <a:off x="594360" y="1188720"/>
            <a:ext cx="5669280" cy="4389120"/>
          </a:xfrm>
          <a:prstGeom prst="roundRect">
            <a:avLst>
              <a:gd name="adj" fmla="val 16667"/>
            </a:avLst>
          </a:prstGeom>
          <a:solidFill>
            <a:srgbClr val="F0F2F8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5636657" name="TextBox 10"/>
          <p:cNvSpPr txBox="1"/>
          <p:nvPr/>
        </p:nvSpPr>
        <p:spPr bwMode="auto">
          <a:xfrm>
            <a:off x="777240" y="1325880"/>
            <a:ext cx="5303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Consolas"/>
              </a:defRPr>
            </a:pPr>
            <a:r>
              <a:rPr/>
              <a:t>EXEC LayBaoCaoXepHang</a:t>
            </a:r>
            <a:br>
              <a:rPr/>
            </a:br>
            <a:r>
              <a:rPr/>
              <a:t>  @CheDo = 'TOP';</a:t>
            </a:r>
            <a:br>
              <a:rPr/>
            </a:br>
            <a:br>
              <a:rPr/>
            </a:br>
            <a:r>
              <a:rPr/>
              <a:t>EXEC LayBaoCaoXepHang</a:t>
            </a:r>
            <a:br>
              <a:rPr/>
            </a:br>
            <a:r>
              <a:rPr/>
              <a:t>  @CheDo = 'CANHBAO';</a:t>
            </a:r>
            <a:br>
              <a:rPr/>
            </a:br>
            <a:br>
              <a:rPr/>
            </a:br>
            <a:r>
              <a:rPr/>
              <a:t>SELECT * FROM vw_BangXepHang;</a:t>
            </a:r>
            <a:br>
              <a:rPr/>
            </a:br>
            <a:br>
              <a:rPr/>
            </a:br>
            <a:r>
              <a:rPr/>
              <a:t>EXEC CapNhatDiem</a:t>
            </a:r>
            <a:br>
              <a:rPr/>
            </a:br>
            <a:r>
              <a:rPr/>
              <a:t>  @MaSV='SV001', @MaMH='IT03',</a:t>
            </a:r>
            <a:br>
              <a:rPr/>
            </a:br>
            <a:r>
              <a:rPr/>
              <a:t>  @DiemQuaTrinh=8, @DiemGiuaKi=8,</a:t>
            </a:r>
            <a:br>
              <a:rPr/>
            </a:br>
            <a:r>
              <a:rPr/>
              <a:t>  @DiemCuoiKi=9;</a:t>
            </a:r>
            <a:endParaRPr/>
          </a:p>
        </p:txBody>
      </p:sp>
      <p:sp>
        <p:nvSpPr>
          <p:cNvPr id="1712994832" name="Rounded Rectangle 11"/>
          <p:cNvSpPr/>
          <p:nvPr/>
        </p:nvSpPr>
        <p:spPr bwMode="auto">
          <a:xfrm>
            <a:off x="6492240" y="1188720"/>
            <a:ext cx="5120640" cy="4389120"/>
          </a:xfrm>
          <a:prstGeom prst="roundRect">
            <a:avLst>
              <a:gd name="adj" fmla="val 16667"/>
            </a:avLst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878490" name="TextBox 12"/>
          <p:cNvSpPr txBox="1"/>
          <p:nvPr/>
        </p:nvSpPr>
        <p:spPr bwMode="auto">
          <a:xfrm>
            <a:off x="6492240" y="3063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rPr/>
              <a:t>[ Chèn hình ảnh ]</a:t>
            </a:r>
            <a:endParaRPr/>
          </a:p>
        </p:txBody>
      </p:sp>
      <p:sp>
        <p:nvSpPr>
          <p:cNvPr id="235377221" name="TextBox 13"/>
          <p:cNvSpPr txBox="1"/>
          <p:nvPr/>
        </p:nvSpPr>
        <p:spPr bwMode="auto">
          <a:xfrm>
            <a:off x="6492240" y="34290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rPr/>
              <a:t>Screenshot SSMS ket qua query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07335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0315619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3093104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5440415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PHẦN IX</a:t>
            </a:r>
            <a:endParaRPr/>
          </a:p>
        </p:txBody>
      </p:sp>
      <p:sp>
        <p:nvSpPr>
          <p:cNvPr id="925999715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Kế hoạch tiếp theo</a:t>
            </a:r>
            <a:endParaRPr/>
          </a:p>
        </p:txBody>
      </p:sp>
      <p:sp>
        <p:nvSpPr>
          <p:cNvPr id="1383974610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6146044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637053640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13/16</a:t>
            </a:r>
            <a:endParaRPr/>
          </a:p>
        </p:txBody>
      </p:sp>
      <p:sp>
        <p:nvSpPr>
          <p:cNvPr id="1896503183" name="Rounded Rectangle 9"/>
          <p:cNvSpPr/>
          <p:nvPr/>
        </p:nvSpPr>
        <p:spPr bwMode="auto">
          <a:xfrm>
            <a:off x="594360" y="1280160"/>
            <a:ext cx="1828800" cy="1691640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2645315" name="TextBox 10"/>
          <p:cNvSpPr txBox="1"/>
          <p:nvPr/>
        </p:nvSpPr>
        <p:spPr bwMode="auto">
          <a:xfrm>
            <a:off x="594360" y="18745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/>
              <a:t>Tuần này</a:t>
            </a:r>
            <a:endParaRPr/>
          </a:p>
        </p:txBody>
      </p:sp>
      <p:sp>
        <p:nvSpPr>
          <p:cNvPr id="673189341" name="Rounded Rectangle 11"/>
          <p:cNvSpPr/>
          <p:nvPr/>
        </p:nvSpPr>
        <p:spPr bwMode="auto">
          <a:xfrm>
            <a:off x="2606040" y="1280160"/>
            <a:ext cx="8778240" cy="1691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3608751" name="TextBox 12"/>
          <p:cNvSpPr txBox="1"/>
          <p:nvPr/>
        </p:nvSpPr>
        <p:spPr bwMode="auto">
          <a:xfrm>
            <a:off x="278892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1.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Procedure Sửa/Xóa SV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2.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Nối Server: Login + danh sách SV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3.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Test trên máy nhóm</a:t>
            </a:r>
            <a:endParaRPr/>
          </a:p>
        </p:txBody>
      </p:sp>
      <p:sp>
        <p:nvSpPr>
          <p:cNvPr id="1620736870" name="Rounded Rectangle 13"/>
          <p:cNvSpPr/>
          <p:nvPr/>
        </p:nvSpPr>
        <p:spPr bwMode="auto">
          <a:xfrm>
            <a:off x="594360" y="3154679"/>
            <a:ext cx="1828800" cy="1691640"/>
          </a:xfrm>
          <a:prstGeom prst="roundRect">
            <a:avLst>
              <a:gd name="adj" fmla="val 16667"/>
            </a:avLst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4062190" name="TextBox 14"/>
          <p:cNvSpPr txBox="1"/>
          <p:nvPr/>
        </p:nvSpPr>
        <p:spPr bwMode="auto">
          <a:xfrm>
            <a:off x="594360" y="3749039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/>
              <a:t>Tuần sau</a:t>
            </a:r>
            <a:endParaRPr/>
          </a:p>
        </p:txBody>
      </p:sp>
      <p:sp>
        <p:nvSpPr>
          <p:cNvPr id="1091306412" name="Rounded Rectangle 15"/>
          <p:cNvSpPr/>
          <p:nvPr/>
        </p:nvSpPr>
        <p:spPr bwMode="auto">
          <a:xfrm>
            <a:off x="2606040" y="3154679"/>
            <a:ext cx="8778240" cy="1691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2109948" name="TextBox 16"/>
          <p:cNvSpPr txBox="1"/>
          <p:nvPr/>
        </p:nvSpPr>
        <p:spPr bwMode="auto">
          <a:xfrm>
            <a:off x="2788920" y="3337559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1.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Cập nhật điểm end-to-end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2.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Báo cáo xếp hạng trên UI</a:t>
            </a:r>
            <a:endParaRPr/>
          </a:p>
          <a:p>
            <a:pPr>
              <a:lnSpc>
                <a:spcPct val="120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3.  </a:t>
            </a:r>
            <a:r>
              <a:rPr sz="1400" b="0" i="0">
                <a:solidFill>
                  <a:srgbClr val="262626"/>
                </a:solidFill>
                <a:latin typeface="Segoe UI"/>
              </a:rPr>
              <a:t>Chuẩn hóa JSON API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25512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2156359" name="Rectangle 2"/>
          <p:cNvSpPr/>
          <p:nvPr/>
        </p:nvSpPr>
        <p:spPr bwMode="auto"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8498088" name="Rectangle 3"/>
          <p:cNvSpPr/>
          <p:nvPr/>
        </p:nvSpPr>
        <p:spPr bwMode="auto"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5342046" name="TextBox 4"/>
          <p:cNvSpPr txBox="1"/>
          <p:nvPr/>
        </p:nvSpPr>
        <p:spPr bwMode="auto"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rPr/>
              <a:t>PHẦN IX</a:t>
            </a:r>
            <a:endParaRPr/>
          </a:p>
        </p:txBody>
      </p:sp>
      <p:sp>
        <p:nvSpPr>
          <p:cNvPr id="1817457282" name="TextBox 5"/>
          <p:cNvSpPr txBox="1"/>
          <p:nvPr/>
        </p:nvSpPr>
        <p:spPr bwMode="auto"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/>
              <a:t>Kết luận</a:t>
            </a:r>
            <a:endParaRPr/>
          </a:p>
        </p:txBody>
      </p:sp>
      <p:sp>
        <p:nvSpPr>
          <p:cNvPr id="2003912089" name="Rectangle 6"/>
          <p:cNvSpPr/>
          <p:nvPr/>
        </p:nvSpPr>
        <p:spPr bwMode="auto"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8659071" name="TextBox 7"/>
          <p:cNvSpPr txBox="1"/>
          <p:nvPr/>
        </p:nvSpPr>
        <p:spPr bwMode="auto"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TDMU  |  Hệ thống Quản lý Sinh viên</a:t>
            </a:r>
            <a:endParaRPr/>
          </a:p>
        </p:txBody>
      </p:sp>
      <p:sp>
        <p:nvSpPr>
          <p:cNvPr id="1590754488" name="TextBox 8"/>
          <p:cNvSpPr txBox="1"/>
          <p:nvPr/>
        </p:nvSpPr>
        <p:spPr bwMode="auto"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/>
              <a:t>14/16</a:t>
            </a:r>
            <a:endParaRPr/>
          </a:p>
        </p:txBody>
      </p:sp>
      <p:sp>
        <p:nvSpPr>
          <p:cNvPr id="1914386580" name="TextBox 9"/>
          <p:cNvSpPr txBox="1"/>
          <p:nvPr/>
        </p:nvSpPr>
        <p:spPr bwMode="auto">
          <a:xfrm>
            <a:off x="594360" y="1234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1.  </a:t>
            </a:r>
            <a:r>
              <a:rPr sz="1600" b="1" i="0">
                <a:solidFill>
                  <a:srgbClr val="1F1E44"/>
                </a:solidFill>
                <a:latin typeface="Segoe UI"/>
              </a:rPr>
              <a:t>Client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500" b="0" i="0">
                <a:solidFill>
                  <a:srgbClr val="696973"/>
                </a:solidFill>
                <a:latin typeface="Segoe UI"/>
              </a:rPr>
              <a:t>     UI hoàn thiện, sẵn sàng tích hợp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2.  </a:t>
            </a:r>
            <a:r>
              <a:rPr sz="1600" b="1" i="0">
                <a:solidFill>
                  <a:srgbClr val="1F1E44"/>
                </a:solidFill>
                <a:latin typeface="Segoe UI"/>
              </a:rPr>
              <a:t>Database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500" b="0" i="0">
                <a:solidFill>
                  <a:srgbClr val="696973"/>
                </a:solidFill>
                <a:latin typeface="Segoe UI"/>
              </a:rPr>
              <a:t>     Logic đầy đủ: SP, trigger, view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3.  </a:t>
            </a:r>
            <a:r>
              <a:rPr sz="1600" b="1" i="0">
                <a:solidFill>
                  <a:srgbClr val="1F1E44"/>
                </a:solidFill>
                <a:latin typeface="Segoe UI"/>
              </a:rPr>
              <a:t>Server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500" b="0" i="0">
                <a:solidFill>
                  <a:srgbClr val="696973"/>
                </a:solidFill>
                <a:latin typeface="Segoe UI"/>
              </a:rPr>
              <a:t>     Cầu nối Client ↔ Database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4.  </a:t>
            </a:r>
            <a:r>
              <a:rPr sz="1600" b="1" i="0">
                <a:solidFill>
                  <a:srgbClr val="1F1E44"/>
                </a:solidFill>
                <a:latin typeface="Segoe UI"/>
              </a:rPr>
              <a:t>Trigger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500" b="0" i="0">
                <a:solidFill>
                  <a:srgbClr val="696973"/>
                </a:solidFill>
                <a:latin typeface="Segoe UI"/>
              </a:rPr>
              <a:t>     Tự động tính điểm, giảm lỗi nhập tay</a:t>
            </a:r>
            <a:endParaRPr/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sz="1400" b="1" i="0">
                <a:solidFill>
                  <a:srgbClr val="2E8B57"/>
                </a:solidFill>
                <a:latin typeface="Segoe UI"/>
              </a:rPr>
              <a:t>5.  </a:t>
            </a:r>
            <a:r>
              <a:rPr sz="1600" b="1" i="0">
                <a:solidFill>
                  <a:srgbClr val="1F1E44"/>
                </a:solidFill>
                <a:latin typeface="Segoe UI"/>
              </a:rPr>
              <a:t>Tiếp theo</a:t>
            </a:r>
            <a:endParaRPr/>
          </a:p>
          <a:p>
            <a:pPr lvl="1">
              <a:spcAft>
                <a:spcPts val="1000"/>
              </a:spcAft>
              <a:defRPr/>
            </a:pPr>
            <a:r>
              <a:rPr sz="1500" b="0" i="0">
                <a:solidFill>
                  <a:srgbClr val="696973"/>
                </a:solidFill>
                <a:latin typeface="Segoe UI"/>
              </a:rPr>
              <a:t>     Hoàn thiện pipeline end-to-end</a:t>
            </a:r>
            <a:endParaRPr/>
          </a:p>
        </p:txBody>
      </p:sp>
      <p:sp>
        <p:nvSpPr>
          <p:cNvPr id="1450204205" name="Rounded Rectangle 10"/>
          <p:cNvSpPr/>
          <p:nvPr/>
        </p:nvSpPr>
        <p:spPr bwMode="auto">
          <a:xfrm>
            <a:off x="6400800" y="1234440"/>
            <a:ext cx="5212080" cy="4114800"/>
          </a:xfrm>
          <a:prstGeom prst="roundRect">
            <a:avLst>
              <a:gd name="adj" fmla="val 16667"/>
            </a:avLst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3297315" name="TextBox 11"/>
          <p:cNvSpPr txBox="1"/>
          <p:nvPr/>
        </p:nvSpPr>
        <p:spPr bwMode="auto">
          <a:xfrm>
            <a:off x="6400800" y="29718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rPr/>
              <a:t>[ Chèn hình ảnh ]</a:t>
            </a:r>
            <a:endParaRPr/>
          </a:p>
        </p:txBody>
      </p:sp>
      <p:sp>
        <p:nvSpPr>
          <p:cNvPr id="696092928" name="TextBox 12"/>
          <p:cNvSpPr txBox="1"/>
          <p:nvPr/>
        </p:nvSpPr>
        <p:spPr bwMode="auto">
          <a:xfrm>
            <a:off x="6400800" y="333756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rPr/>
              <a:t>Anh nhom / logo du 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12526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2947971" name="Rounded Rectangle 2"/>
          <p:cNvSpPr/>
          <p:nvPr/>
        </p:nvSpPr>
        <p:spPr bwMode="auto">
          <a:xfrm>
            <a:off x="2011680" y="2286000"/>
            <a:ext cx="8138160" cy="2286000"/>
          </a:xfrm>
          <a:prstGeom prst="roundRect">
            <a:avLst>
              <a:gd name="adj" fmla="val 16667"/>
            </a:avLst>
          </a:prstGeom>
          <a:solidFill>
            <a:srgbClr val="2D2C5A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7529871" name="TextBox 3"/>
          <p:cNvSpPr txBox="1"/>
          <p:nvPr/>
        </p:nvSpPr>
        <p:spPr bwMode="auto">
          <a:xfrm>
            <a:off x="2194560" y="260604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/>
              <a:t>CẢM ƠN THẦY VÀ CÁC BẠN!</a:t>
            </a:r>
            <a:endParaRPr/>
          </a:p>
        </p:txBody>
      </p:sp>
      <p:sp>
        <p:nvSpPr>
          <p:cNvPr id="1884780070" name="TextBox 4"/>
          <p:cNvSpPr txBox="1"/>
          <p:nvPr/>
        </p:nvSpPr>
        <p:spPr bwMode="auto">
          <a:xfrm>
            <a:off x="2194560" y="34290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3CB371"/>
                </a:solidFill>
                <a:latin typeface="Segoe UI"/>
              </a:defRPr>
            </a:pPr>
            <a:r>
              <a:rPr/>
              <a:t>Hỏi &amp; đáp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2026-05-15T14:19:29Z</dcterms:modified>
  <cp:category/>
</cp:coreProperties>
</file>